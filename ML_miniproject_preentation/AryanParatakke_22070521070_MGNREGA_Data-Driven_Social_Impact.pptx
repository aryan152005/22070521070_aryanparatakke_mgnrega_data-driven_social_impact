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y="6858000" cx="12192000"/>
  <p:notesSz cx="6858000" cy="9144000"/>
  <p:embeddedFontLst>
    <p:embeddedFont>
      <p:font typeface="Roboto"/>
      <p:regular r:id="rId23"/>
      <p:bold r:id="rId24"/>
      <p:italic r:id="rId25"/>
      <p:boldItalic r:id="rId26"/>
    </p:embeddedFont>
    <p:embeddedFont>
      <p:font typeface="Montserrat"/>
      <p:regular r:id="rId27"/>
      <p:bold r:id="rId28"/>
      <p:italic r:id="rId29"/>
      <p:boldItalic r:id="rId3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15E96A0A-F571-4F49-84C2-AF81E033E86C}">
  <a:tblStyle styleId="{15E96A0A-F571-4F49-84C2-AF81E033E86C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fill>
          <a:solidFill>
            <a:srgbClr val="CFD7E7"/>
          </a:solidFill>
        </a:fill>
      </a:tcStyle>
    </a:band1H>
    <a:band2H>
      <a:tcTxStyle/>
    </a:band2H>
    <a:band1V>
      <a:tcTxStyle/>
      <a:tcStyle>
        <a:fill>
          <a:solidFill>
            <a:srgbClr val="CFD7E7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font" Target="fonts/Roboto-bold.fntdata"/><Relationship Id="rId23" Type="http://schemas.openxmlformats.org/officeDocument/2006/relationships/font" Target="fonts/Roboto-regular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font" Target="fonts/Roboto-boldItalic.fntdata"/><Relationship Id="rId25" Type="http://schemas.openxmlformats.org/officeDocument/2006/relationships/font" Target="fonts/Roboto-italic.fntdata"/><Relationship Id="rId28" Type="http://schemas.openxmlformats.org/officeDocument/2006/relationships/font" Target="fonts/Montserrat-bold.fntdata"/><Relationship Id="rId27" Type="http://schemas.openxmlformats.org/officeDocument/2006/relationships/font" Target="fonts/Montserrat-regular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font" Target="fonts/Montserrat-italic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0" Type="http://schemas.openxmlformats.org/officeDocument/2006/relationships/font" Target="fonts/Montserrat-boldItalic.fntdata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" name="Google Shape;183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" name="Google Shape;197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" name="Google Shape;210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" name="Google Shape;227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3" name="Google Shape;243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9" name="Google Shape;249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6" name="Google Shape;266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0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2" name="Google Shape;322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6" name="Google Shape;336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8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0" name="Google Shape;350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2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4" name="Google Shape;364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6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Google Shape;377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8" name="Google Shape;378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2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4" name="Google Shape;384;p1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0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Google Shape;401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2" name="Google Shape;402;p1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5.png"/><Relationship Id="rId4" Type="http://schemas.openxmlformats.org/officeDocument/2006/relationships/image" Target="../media/image3.png"/><Relationship Id="rId5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8.png"/><Relationship Id="rId4" Type="http://schemas.openxmlformats.org/officeDocument/2006/relationships/image" Target="../media/image16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8.png"/><Relationship Id="rId4" Type="http://schemas.openxmlformats.org/officeDocument/2006/relationships/image" Target="../media/image1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8.png"/><Relationship Id="rId4" Type="http://schemas.openxmlformats.org/officeDocument/2006/relationships/image" Target="../media/image6.png"/><Relationship Id="rId5" Type="http://schemas.openxmlformats.org/officeDocument/2006/relationships/image" Target="../media/image1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Relationship Id="rId4" Type="http://schemas.openxmlformats.org/officeDocument/2006/relationships/image" Target="../media/image4.png"/><Relationship Id="rId5" Type="http://schemas.openxmlformats.org/officeDocument/2006/relationships/image" Target="../media/image8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8.png"/><Relationship Id="rId4" Type="http://schemas.openxmlformats.org/officeDocument/2006/relationships/image" Target="../media/image1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9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8.png"/><Relationship Id="rId4" Type="http://schemas.openxmlformats.org/officeDocument/2006/relationships/image" Target="../media/image19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8.png"/><Relationship Id="rId4" Type="http://schemas.openxmlformats.org/officeDocument/2006/relationships/image" Target="../media/image18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8.png"/><Relationship Id="rId4" Type="http://schemas.openxmlformats.org/officeDocument/2006/relationships/image" Target="../media/image17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1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8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 txBox="1"/>
          <p:nvPr/>
        </p:nvSpPr>
        <p:spPr>
          <a:xfrm>
            <a:off x="333300" y="1353004"/>
            <a:ext cx="11525400" cy="232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998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200" u="none" cap="none" strike="noStrike">
                <a:solidFill>
                  <a:srgbClr val="004D99"/>
                </a:solidFill>
                <a:latin typeface="Montserrat"/>
                <a:ea typeface="Montserrat"/>
                <a:cs typeface="Montserrat"/>
                <a:sym typeface="Montserrat"/>
              </a:rPr>
              <a:t>MGNREGA Data-Driven Social Impact</a:t>
            </a:r>
            <a:endParaRPr/>
          </a:p>
        </p:txBody>
      </p:sp>
      <p:sp>
        <p:nvSpPr>
          <p:cNvPr id="85" name="Google Shape;85;p13"/>
          <p:cNvSpPr txBox="1"/>
          <p:nvPr/>
        </p:nvSpPr>
        <p:spPr>
          <a:xfrm>
            <a:off x="1333500" y="3938465"/>
            <a:ext cx="9525000" cy="99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4B5563"/>
                </a:solidFill>
                <a:latin typeface="Roboto"/>
                <a:ea typeface="Roboto"/>
                <a:cs typeface="Roboto"/>
                <a:sym typeface="Roboto"/>
              </a:rPr>
              <a:t>Exploratory Data Analysis &amp; High-Performance Predictive Modeling (ML/DL)</a:t>
            </a:r>
            <a:endParaRPr/>
          </a:p>
        </p:txBody>
      </p:sp>
      <p:sp>
        <p:nvSpPr>
          <p:cNvPr id="86" name="Google Shape;86;p13"/>
          <p:cNvSpPr txBox="1"/>
          <p:nvPr/>
        </p:nvSpPr>
        <p:spPr>
          <a:xfrm>
            <a:off x="4138725" y="5308531"/>
            <a:ext cx="39147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04D99"/>
                </a:solidFill>
                <a:latin typeface="Roboto"/>
                <a:ea typeface="Roboto"/>
                <a:cs typeface="Roboto"/>
                <a:sym typeface="Roboto"/>
              </a:rPr>
              <a:t>Aryan Paratakke | PRN: 22070521070</a:t>
            </a:r>
            <a:endParaRPr/>
          </a:p>
        </p:txBody>
      </p:sp>
      <p:pic>
        <p:nvPicPr>
          <p:cNvPr descr="SCSCR" id="87" name="Google Shape;87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112500" y="107059"/>
            <a:ext cx="1047277" cy="1074253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88" name="Google Shape;88;p13"/>
          <p:cNvGrpSpPr/>
          <p:nvPr/>
        </p:nvGrpSpPr>
        <p:grpSpPr>
          <a:xfrm>
            <a:off x="4232" y="6382984"/>
            <a:ext cx="12192000" cy="476400"/>
            <a:chOff x="0" y="6381750"/>
            <a:chExt cx="12192000" cy="476400"/>
          </a:xfrm>
        </p:grpSpPr>
        <p:sp>
          <p:nvSpPr>
            <p:cNvPr id="89" name="Google Shape;89;p13"/>
            <p:cNvSpPr/>
            <p:nvPr/>
          </p:nvSpPr>
          <p:spPr>
            <a:xfrm>
              <a:off x="0" y="6381750"/>
              <a:ext cx="12192000" cy="476400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grpSp>
          <p:nvGrpSpPr>
            <p:cNvPr id="90" name="Google Shape;90;p13"/>
            <p:cNvGrpSpPr/>
            <p:nvPr/>
          </p:nvGrpSpPr>
          <p:grpSpPr>
            <a:xfrm>
              <a:off x="160100" y="6467251"/>
              <a:ext cx="4087770" cy="273665"/>
              <a:chOff x="4366684" y="2926127"/>
              <a:chExt cx="3278346" cy="2572038"/>
            </a:xfrm>
          </p:grpSpPr>
          <p:sp>
            <p:nvSpPr>
              <p:cNvPr id="91" name="Google Shape;91;p13"/>
              <p:cNvSpPr/>
              <p:nvPr/>
            </p:nvSpPr>
            <p:spPr>
              <a:xfrm>
                <a:off x="4744501" y="2926994"/>
                <a:ext cx="72240" cy="2395484"/>
              </a:xfrm>
              <a:custGeom>
                <a:rect b="b" l="l" r="r" t="t"/>
                <a:pathLst>
                  <a:path extrusionOk="0" h="6387957" w="192640">
                    <a:moveTo>
                      <a:pt x="0" y="639335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7039" y="0"/>
                      <a:pt x="131766" y="0"/>
                      <a:pt x="198034" y="0"/>
                    </a:cubicBezTo>
                    <a:cubicBezTo>
                      <a:pt x="198034" y="2132145"/>
                      <a:pt x="198034" y="4261207"/>
                      <a:pt x="198034" y="639335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92" name="Google Shape;92;p13"/>
              <p:cNvSpPr/>
              <p:nvPr/>
            </p:nvSpPr>
            <p:spPr>
              <a:xfrm>
                <a:off x="4676621" y="2926994"/>
                <a:ext cx="37565" cy="2395484"/>
              </a:xfrm>
              <a:custGeom>
                <a:rect b="b" l="l" r="r" t="t"/>
                <a:pathLst>
                  <a:path extrusionOk="0" h="6387957" w="100173">
                    <a:moveTo>
                      <a:pt x="0" y="639258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60437"/>
                      <a:pt x="10325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93" name="Google Shape;93;p13"/>
              <p:cNvSpPr/>
              <p:nvPr/>
            </p:nvSpPr>
            <p:spPr>
              <a:xfrm>
                <a:off x="5706626" y="2927282"/>
                <a:ext cx="109805" cy="2395484"/>
              </a:xfrm>
              <a:custGeom>
                <a:rect b="b" l="l" r="r" t="t"/>
                <a:pathLst>
                  <a:path extrusionOk="0" h="6387957" w="292813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97091" y="0"/>
                      <a:pt x="194952" y="0"/>
                      <a:pt x="295125" y="0"/>
                    </a:cubicBezTo>
                    <a:cubicBezTo>
                      <a:pt x="295125" y="2130603"/>
                      <a:pt x="295125" y="4259666"/>
                      <a:pt x="29512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94" name="Google Shape;94;p13"/>
              <p:cNvSpPr/>
              <p:nvPr/>
            </p:nvSpPr>
            <p:spPr>
              <a:xfrm>
                <a:off x="5022376" y="2926994"/>
                <a:ext cx="75130" cy="2395484"/>
              </a:xfrm>
              <a:custGeom>
                <a:rect b="b" l="l" r="r" t="t"/>
                <a:pathLst>
                  <a:path extrusionOk="0" h="6387957" w="200346">
                    <a:moveTo>
                      <a:pt x="0" y="639258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7039" y="0"/>
                      <a:pt x="133307" y="0"/>
                      <a:pt x="201117" y="0"/>
                    </a:cubicBezTo>
                    <a:cubicBezTo>
                      <a:pt x="201117" y="2131374"/>
                      <a:pt x="201117" y="4260437"/>
                      <a:pt x="201117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95" name="Google Shape;95;p13"/>
              <p:cNvSpPr/>
              <p:nvPr/>
            </p:nvSpPr>
            <p:spPr>
              <a:xfrm>
                <a:off x="4877829" y="2926994"/>
                <a:ext cx="72240" cy="2395484"/>
              </a:xfrm>
              <a:custGeom>
                <a:rect b="b" l="l" r="r" t="t"/>
                <a:pathLst>
                  <a:path extrusionOk="0" h="6387957" w="192640">
                    <a:moveTo>
                      <a:pt x="0" y="639258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67039" y="0"/>
                      <a:pt x="131766" y="0"/>
                      <a:pt x="198805" y="0"/>
                    </a:cubicBezTo>
                    <a:cubicBezTo>
                      <a:pt x="198805" y="2130603"/>
                      <a:pt x="198805" y="4260437"/>
                      <a:pt x="19880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96" name="Google Shape;96;p13"/>
              <p:cNvSpPr/>
              <p:nvPr/>
            </p:nvSpPr>
            <p:spPr>
              <a:xfrm>
                <a:off x="4559765" y="2926994"/>
                <a:ext cx="72240" cy="2395484"/>
              </a:xfrm>
              <a:custGeom>
                <a:rect b="b" l="l" r="r" t="t"/>
                <a:pathLst>
                  <a:path extrusionOk="0" h="6387957" w="192640">
                    <a:moveTo>
                      <a:pt x="0" y="639335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7039" y="0"/>
                      <a:pt x="131766" y="0"/>
                      <a:pt x="198034" y="0"/>
                    </a:cubicBezTo>
                    <a:cubicBezTo>
                      <a:pt x="198034" y="2132145"/>
                      <a:pt x="198034" y="4261207"/>
                      <a:pt x="198034" y="639335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97" name="Google Shape;97;p13"/>
              <p:cNvSpPr/>
              <p:nvPr/>
            </p:nvSpPr>
            <p:spPr>
              <a:xfrm>
                <a:off x="4433987" y="2926705"/>
                <a:ext cx="37565" cy="2568860"/>
              </a:xfrm>
              <a:custGeom>
                <a:rect b="b" l="l" r="r" t="t"/>
                <a:pathLst>
                  <a:path extrusionOk="0" h="6850294" w="100173">
                    <a:moveTo>
                      <a:pt x="0" y="6854918"/>
                    </a:moveTo>
                    <a:cubicBezTo>
                      <a:pt x="0" y="4570202"/>
                      <a:pt x="0" y="2286257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284716"/>
                      <a:pt x="103255" y="4567891"/>
                      <a:pt x="103255" y="6854918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98" name="Google Shape;98;p13"/>
              <p:cNvSpPr/>
              <p:nvPr/>
            </p:nvSpPr>
            <p:spPr>
              <a:xfrm>
                <a:off x="4366684" y="2927282"/>
                <a:ext cx="37565" cy="2568860"/>
              </a:xfrm>
              <a:custGeom>
                <a:rect b="b" l="l" r="r" t="t"/>
                <a:pathLst>
                  <a:path extrusionOk="0" h="6850294" w="100173">
                    <a:moveTo>
                      <a:pt x="0" y="6854148"/>
                    </a:moveTo>
                    <a:cubicBezTo>
                      <a:pt x="0" y="4569432"/>
                      <a:pt x="0" y="2286257"/>
                      <a:pt x="0" y="0"/>
                    </a:cubicBezTo>
                    <a:cubicBezTo>
                      <a:pt x="33905" y="0"/>
                      <a:pt x="67809" y="0"/>
                      <a:pt x="103255" y="0"/>
                    </a:cubicBezTo>
                    <a:cubicBezTo>
                      <a:pt x="103255" y="2285486"/>
                      <a:pt x="103255" y="4568661"/>
                      <a:pt x="103255" y="6854918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99" name="Google Shape;99;p13"/>
              <p:cNvSpPr/>
              <p:nvPr/>
            </p:nvSpPr>
            <p:spPr>
              <a:xfrm>
                <a:off x="5957386" y="2926705"/>
                <a:ext cx="37565" cy="2568860"/>
              </a:xfrm>
              <a:custGeom>
                <a:rect b="b" l="l" r="r" t="t"/>
                <a:pathLst>
                  <a:path extrusionOk="0" h="6850294" w="100173">
                    <a:moveTo>
                      <a:pt x="0" y="6854918"/>
                    </a:moveTo>
                    <a:cubicBezTo>
                      <a:pt x="0" y="4570202"/>
                      <a:pt x="0" y="2286257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283945"/>
                      <a:pt x="103255" y="4567891"/>
                      <a:pt x="103255" y="6854918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00" name="Google Shape;100;p13"/>
              <p:cNvSpPr/>
              <p:nvPr/>
            </p:nvSpPr>
            <p:spPr>
              <a:xfrm>
                <a:off x="6024689" y="2926127"/>
                <a:ext cx="37565" cy="2568860"/>
              </a:xfrm>
              <a:custGeom>
                <a:rect b="b" l="l" r="r" t="t"/>
                <a:pathLst>
                  <a:path extrusionOk="0" h="6850294" w="100173">
                    <a:moveTo>
                      <a:pt x="0" y="6857230"/>
                    </a:moveTo>
                    <a:cubicBezTo>
                      <a:pt x="0" y="4572514"/>
                      <a:pt x="0" y="2288569"/>
                      <a:pt x="0" y="0"/>
                    </a:cubicBezTo>
                    <a:cubicBezTo>
                      <a:pt x="17723" y="0"/>
                      <a:pt x="34675" y="0"/>
                      <a:pt x="52398" y="0"/>
                    </a:cubicBezTo>
                    <a:cubicBezTo>
                      <a:pt x="68580" y="0"/>
                      <a:pt x="84762" y="0"/>
                      <a:pt x="103255" y="0"/>
                    </a:cubicBezTo>
                    <a:cubicBezTo>
                      <a:pt x="103255" y="2287798"/>
                      <a:pt x="103255" y="4571743"/>
                      <a:pt x="103255" y="6857230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01" name="Google Shape;101;p13"/>
              <p:cNvSpPr/>
              <p:nvPr/>
            </p:nvSpPr>
            <p:spPr>
              <a:xfrm>
                <a:off x="5890084" y="2926994"/>
                <a:ext cx="37565" cy="2395484"/>
              </a:xfrm>
              <a:custGeom>
                <a:rect b="b" l="l" r="r" t="t"/>
                <a:pathLst>
                  <a:path extrusionOk="0" h="6387957" w="100173">
                    <a:moveTo>
                      <a:pt x="0" y="6392581"/>
                    </a:moveTo>
                    <a:cubicBezTo>
                      <a:pt x="0" y="4262748"/>
                      <a:pt x="0" y="2132145"/>
                      <a:pt x="0" y="0"/>
                    </a:cubicBezTo>
                    <a:cubicBezTo>
                      <a:pt x="33904" y="0"/>
                      <a:pt x="67039" y="0"/>
                      <a:pt x="101714" y="0"/>
                    </a:cubicBezTo>
                    <a:cubicBezTo>
                      <a:pt x="101714" y="2130603"/>
                      <a:pt x="101714" y="4260437"/>
                      <a:pt x="101714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02" name="Google Shape;102;p13"/>
              <p:cNvSpPr/>
              <p:nvPr/>
            </p:nvSpPr>
            <p:spPr>
              <a:xfrm>
                <a:off x="6091991" y="2926994"/>
                <a:ext cx="37565" cy="2395484"/>
              </a:xfrm>
              <a:custGeom>
                <a:rect b="b" l="l" r="r" t="t"/>
                <a:pathLst>
                  <a:path extrusionOk="0" h="6387957" w="100173">
                    <a:moveTo>
                      <a:pt x="0" y="6393351"/>
                    </a:moveTo>
                    <a:cubicBezTo>
                      <a:pt x="0" y="4261978"/>
                      <a:pt x="0" y="2132915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1374"/>
                      <a:pt x="103255" y="4261207"/>
                      <a:pt x="103255" y="639335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03" name="Google Shape;103;p13"/>
              <p:cNvSpPr/>
              <p:nvPr/>
            </p:nvSpPr>
            <p:spPr>
              <a:xfrm>
                <a:off x="7139759" y="2926994"/>
                <a:ext cx="109805" cy="2395484"/>
              </a:xfrm>
              <a:custGeom>
                <a:rect b="b" l="l" r="r" t="t"/>
                <a:pathLst>
                  <a:path extrusionOk="0" h="6387957" w="292813">
                    <a:moveTo>
                      <a:pt x="0" y="639335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99403" y="0"/>
                      <a:pt x="196493" y="0"/>
                      <a:pt x="295125" y="0"/>
                    </a:cubicBezTo>
                    <a:cubicBezTo>
                      <a:pt x="295125" y="2132145"/>
                      <a:pt x="295125" y="4261207"/>
                      <a:pt x="295125" y="639335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04" name="Google Shape;104;p13"/>
              <p:cNvSpPr/>
              <p:nvPr/>
            </p:nvSpPr>
            <p:spPr>
              <a:xfrm>
                <a:off x="7280788" y="2926994"/>
                <a:ext cx="37565" cy="2395484"/>
              </a:xfrm>
              <a:custGeom>
                <a:rect b="b" l="l" r="r" t="t"/>
                <a:pathLst>
                  <a:path extrusionOk="0" h="6387957" w="100173">
                    <a:moveTo>
                      <a:pt x="0" y="639258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60437"/>
                      <a:pt x="10325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05" name="Google Shape;105;p13"/>
              <p:cNvSpPr/>
              <p:nvPr/>
            </p:nvSpPr>
            <p:spPr>
              <a:xfrm>
                <a:off x="7349773" y="2926994"/>
                <a:ext cx="109805" cy="2395484"/>
              </a:xfrm>
              <a:custGeom>
                <a:rect b="b" l="l" r="r" t="t"/>
                <a:pathLst>
                  <a:path extrusionOk="0" h="6387957" w="292813">
                    <a:moveTo>
                      <a:pt x="0" y="639335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99402" y="0"/>
                      <a:pt x="195722" y="0"/>
                      <a:pt x="295125" y="0"/>
                    </a:cubicBezTo>
                    <a:cubicBezTo>
                      <a:pt x="295125" y="2132145"/>
                      <a:pt x="295125" y="4261207"/>
                      <a:pt x="295125" y="639335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06" name="Google Shape;106;p13"/>
              <p:cNvSpPr/>
              <p:nvPr/>
            </p:nvSpPr>
            <p:spPr>
              <a:xfrm>
                <a:off x="7548511" y="2927282"/>
                <a:ext cx="41926" cy="2570883"/>
              </a:xfrm>
              <a:custGeom>
                <a:rect b="b" l="l" r="r" t="t"/>
                <a:pathLst>
                  <a:path extrusionOk="0" h="6855688" w="111804">
                    <a:moveTo>
                      <a:pt x="0" y="6853478"/>
                    </a:moveTo>
                    <a:cubicBezTo>
                      <a:pt x="14640" y="4603437"/>
                      <a:pt x="3155" y="2253123"/>
                      <a:pt x="6237" y="0"/>
                    </a:cubicBezTo>
                    <a:lnTo>
                      <a:pt x="111804" y="0"/>
                    </a:lnTo>
                    <a:lnTo>
                      <a:pt x="111804" y="6855688"/>
                    </a:ln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07" name="Google Shape;107;p13"/>
              <p:cNvSpPr/>
              <p:nvPr/>
            </p:nvSpPr>
            <p:spPr>
              <a:xfrm>
                <a:off x="7485249" y="2926994"/>
                <a:ext cx="37565" cy="2395484"/>
              </a:xfrm>
              <a:custGeom>
                <a:rect b="b" l="l" r="r" t="t"/>
                <a:pathLst>
                  <a:path extrusionOk="0" h="6387957" w="100173">
                    <a:moveTo>
                      <a:pt x="0" y="639258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60437"/>
                      <a:pt x="10325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08" name="Google Shape;108;p13"/>
              <p:cNvSpPr/>
              <p:nvPr/>
            </p:nvSpPr>
            <p:spPr>
              <a:xfrm>
                <a:off x="7616134" y="2926994"/>
                <a:ext cx="28896" cy="2568860"/>
              </a:xfrm>
              <a:custGeom>
                <a:rect b="b" l="l" r="r" t="t"/>
                <a:pathLst>
                  <a:path extrusionOk="0" h="6850294" w="77056">
                    <a:moveTo>
                      <a:pt x="0" y="6854918"/>
                    </a:moveTo>
                    <a:cubicBezTo>
                      <a:pt x="0" y="4570202"/>
                      <a:pt x="0" y="2286257"/>
                      <a:pt x="0" y="0"/>
                    </a:cubicBezTo>
                    <a:cubicBezTo>
                      <a:pt x="25428" y="0"/>
                      <a:pt x="50087" y="0"/>
                      <a:pt x="78597" y="0"/>
                    </a:cubicBezTo>
                    <a:cubicBezTo>
                      <a:pt x="78597" y="2283175"/>
                      <a:pt x="78597" y="4566350"/>
                      <a:pt x="78597" y="6854918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09" name="Google Shape;109;p13"/>
              <p:cNvSpPr/>
              <p:nvPr/>
            </p:nvSpPr>
            <p:spPr>
              <a:xfrm>
                <a:off x="6838507" y="2926994"/>
                <a:ext cx="109805" cy="2395484"/>
              </a:xfrm>
              <a:custGeom>
                <a:rect b="b" l="l" r="r" t="t"/>
                <a:pathLst>
                  <a:path extrusionOk="0" h="6387957" w="292813">
                    <a:moveTo>
                      <a:pt x="0" y="639335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99403" y="0"/>
                      <a:pt x="196493" y="0"/>
                      <a:pt x="295125" y="0"/>
                    </a:cubicBezTo>
                    <a:cubicBezTo>
                      <a:pt x="295125" y="2132145"/>
                      <a:pt x="295125" y="4261207"/>
                      <a:pt x="295125" y="639335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10" name="Google Shape;110;p13"/>
              <p:cNvSpPr/>
              <p:nvPr/>
            </p:nvSpPr>
            <p:spPr>
              <a:xfrm>
                <a:off x="6980994" y="2927282"/>
                <a:ext cx="37565" cy="2395484"/>
              </a:xfrm>
              <a:custGeom>
                <a:rect b="b" l="l" r="r" t="t"/>
                <a:pathLst>
                  <a:path extrusionOk="0" h="6387957" w="100173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3904" y="0"/>
                      <a:pt x="67809" y="0"/>
                      <a:pt x="103255" y="0"/>
                    </a:cubicBezTo>
                    <a:cubicBezTo>
                      <a:pt x="103255" y="2130603"/>
                      <a:pt x="103255" y="4258895"/>
                      <a:pt x="10325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11" name="Google Shape;111;p13"/>
              <p:cNvSpPr/>
              <p:nvPr/>
            </p:nvSpPr>
            <p:spPr>
              <a:xfrm>
                <a:off x="7065051" y="2926994"/>
                <a:ext cx="37565" cy="2395484"/>
              </a:xfrm>
              <a:custGeom>
                <a:rect b="b" l="l" r="r" t="t"/>
                <a:pathLst>
                  <a:path extrusionOk="0" h="6387957" w="100173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3904" y="0"/>
                      <a:pt x="67809" y="0"/>
                      <a:pt x="103255" y="0"/>
                    </a:cubicBezTo>
                    <a:cubicBezTo>
                      <a:pt x="103255" y="2130603"/>
                      <a:pt x="103255" y="4258895"/>
                      <a:pt x="10325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12" name="Google Shape;112;p13"/>
              <p:cNvSpPr/>
              <p:nvPr/>
            </p:nvSpPr>
            <p:spPr>
              <a:xfrm>
                <a:off x="6754449" y="2926127"/>
                <a:ext cx="37565" cy="2395484"/>
              </a:xfrm>
              <a:custGeom>
                <a:rect b="b" l="l" r="r" t="t"/>
                <a:pathLst>
                  <a:path extrusionOk="0" h="6387957" w="100173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3905" y="0"/>
                      <a:pt x="67810" y="0"/>
                      <a:pt x="103255" y="0"/>
                    </a:cubicBezTo>
                    <a:cubicBezTo>
                      <a:pt x="103255" y="2131374"/>
                      <a:pt x="103255" y="4260436"/>
                      <a:pt x="10325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13" name="Google Shape;113;p13"/>
              <p:cNvSpPr/>
              <p:nvPr/>
            </p:nvSpPr>
            <p:spPr>
              <a:xfrm>
                <a:off x="6334914" y="2927282"/>
                <a:ext cx="37565" cy="2395484"/>
              </a:xfrm>
              <a:custGeom>
                <a:rect b="b" l="l" r="r" t="t"/>
                <a:pathLst>
                  <a:path extrusionOk="0" h="6387957" w="100173">
                    <a:moveTo>
                      <a:pt x="0" y="6393351"/>
                    </a:moveTo>
                    <a:cubicBezTo>
                      <a:pt x="0" y="4262748"/>
                      <a:pt x="0" y="2132915"/>
                      <a:pt x="0" y="0"/>
                    </a:cubicBezTo>
                    <a:cubicBezTo>
                      <a:pt x="33904" y="0"/>
                      <a:pt x="67809" y="0"/>
                      <a:pt x="103255" y="0"/>
                    </a:cubicBezTo>
                    <a:cubicBezTo>
                      <a:pt x="103255" y="2131374"/>
                      <a:pt x="103255" y="4260436"/>
                      <a:pt x="103255" y="639335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14" name="Google Shape;114;p13"/>
              <p:cNvSpPr/>
              <p:nvPr/>
            </p:nvSpPr>
            <p:spPr>
              <a:xfrm>
                <a:off x="6159871" y="2926127"/>
                <a:ext cx="37565" cy="2398373"/>
              </a:xfrm>
              <a:custGeom>
                <a:rect b="b" l="l" r="r" t="t"/>
                <a:pathLst>
                  <a:path extrusionOk="0" h="6395662" w="100173">
                    <a:moveTo>
                      <a:pt x="0" y="6395663"/>
                    </a:moveTo>
                    <a:cubicBezTo>
                      <a:pt x="0" y="4265060"/>
                      <a:pt x="0" y="2135227"/>
                      <a:pt x="0" y="0"/>
                    </a:cubicBezTo>
                    <a:cubicBezTo>
                      <a:pt x="17723" y="0"/>
                      <a:pt x="34675" y="0"/>
                      <a:pt x="52398" y="0"/>
                    </a:cubicBezTo>
                    <a:cubicBezTo>
                      <a:pt x="68580" y="0"/>
                      <a:pt x="84762" y="0"/>
                      <a:pt x="103255" y="0"/>
                    </a:cubicBezTo>
                    <a:cubicBezTo>
                      <a:pt x="103255" y="2132915"/>
                      <a:pt x="103255" y="4261977"/>
                      <a:pt x="103255" y="6395663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15" name="Google Shape;115;p13"/>
              <p:cNvSpPr/>
              <p:nvPr/>
            </p:nvSpPr>
            <p:spPr>
              <a:xfrm>
                <a:off x="6231712" y="2926127"/>
                <a:ext cx="72240" cy="2395484"/>
              </a:xfrm>
              <a:custGeom>
                <a:rect b="b" l="l" r="r" t="t"/>
                <a:pathLst>
                  <a:path extrusionOk="0" h="6387957" w="192640">
                    <a:moveTo>
                      <a:pt x="0" y="639258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6268" y="0"/>
                      <a:pt x="131766" y="0"/>
                      <a:pt x="198805" y="0"/>
                    </a:cubicBezTo>
                    <a:cubicBezTo>
                      <a:pt x="198805" y="2131374"/>
                      <a:pt x="198805" y="4261207"/>
                      <a:pt x="19880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16" name="Google Shape;116;p13"/>
              <p:cNvSpPr/>
              <p:nvPr/>
            </p:nvSpPr>
            <p:spPr>
              <a:xfrm>
                <a:off x="6598401" y="2927282"/>
                <a:ext cx="37565" cy="2395484"/>
              </a:xfrm>
              <a:custGeom>
                <a:rect b="b" l="l" r="r" t="t"/>
                <a:pathLst>
                  <a:path extrusionOk="0" h="6387957" w="100173">
                    <a:moveTo>
                      <a:pt x="0" y="639258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60437"/>
                      <a:pt x="10325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17" name="Google Shape;117;p13"/>
              <p:cNvSpPr/>
              <p:nvPr/>
            </p:nvSpPr>
            <p:spPr>
              <a:xfrm>
                <a:off x="6680669" y="2927282"/>
                <a:ext cx="37565" cy="2395484"/>
              </a:xfrm>
              <a:custGeom>
                <a:rect b="b" l="l" r="r" t="t"/>
                <a:pathLst>
                  <a:path extrusionOk="0" h="6387957" w="100173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3905" y="0"/>
                      <a:pt x="67810" y="0"/>
                      <a:pt x="103255" y="0"/>
                    </a:cubicBezTo>
                    <a:cubicBezTo>
                      <a:pt x="103255" y="2131374"/>
                      <a:pt x="103255" y="4260436"/>
                      <a:pt x="10325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18" name="Google Shape;118;p13"/>
              <p:cNvSpPr/>
              <p:nvPr/>
            </p:nvSpPr>
            <p:spPr>
              <a:xfrm>
                <a:off x="6516134" y="2927282"/>
                <a:ext cx="37565" cy="2395484"/>
              </a:xfrm>
              <a:custGeom>
                <a:rect b="b" l="l" r="r" t="t"/>
                <a:pathLst>
                  <a:path extrusionOk="0" h="6387957" w="100173">
                    <a:moveTo>
                      <a:pt x="0" y="639181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3134" y="0"/>
                      <a:pt x="67039" y="0"/>
                      <a:pt x="103255" y="0"/>
                    </a:cubicBezTo>
                    <a:cubicBezTo>
                      <a:pt x="103255" y="2130603"/>
                      <a:pt x="103255" y="4260436"/>
                      <a:pt x="103255" y="639181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19" name="Google Shape;119;p13"/>
              <p:cNvSpPr/>
              <p:nvPr/>
            </p:nvSpPr>
            <p:spPr>
              <a:xfrm>
                <a:off x="6399205" y="2927282"/>
                <a:ext cx="72240" cy="2395484"/>
              </a:xfrm>
              <a:custGeom>
                <a:rect b="b" l="l" r="r" t="t"/>
                <a:pathLst>
                  <a:path extrusionOk="0" h="6387957" w="192640">
                    <a:moveTo>
                      <a:pt x="0" y="639258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6268" y="0"/>
                      <a:pt x="131766" y="0"/>
                      <a:pt x="198805" y="0"/>
                    </a:cubicBezTo>
                    <a:cubicBezTo>
                      <a:pt x="198805" y="2131374"/>
                      <a:pt x="198805" y="4261207"/>
                      <a:pt x="19880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20" name="Google Shape;120;p13"/>
              <p:cNvSpPr/>
              <p:nvPr/>
            </p:nvSpPr>
            <p:spPr>
              <a:xfrm>
                <a:off x="5237391" y="2926127"/>
                <a:ext cx="144480" cy="2395484"/>
              </a:xfrm>
              <a:custGeom>
                <a:rect b="b" l="l" r="r" t="t"/>
                <a:pathLst>
                  <a:path extrusionOk="0" h="6387957" w="385280">
                    <a:moveTo>
                      <a:pt x="0" y="6393351"/>
                    </a:moveTo>
                    <a:cubicBezTo>
                      <a:pt x="0" y="4262748"/>
                      <a:pt x="0" y="2132145"/>
                      <a:pt x="0" y="0"/>
                    </a:cubicBezTo>
                    <a:cubicBezTo>
                      <a:pt x="128684" y="0"/>
                      <a:pt x="256597" y="0"/>
                      <a:pt x="387593" y="0"/>
                    </a:cubicBezTo>
                    <a:cubicBezTo>
                      <a:pt x="387593" y="2130603"/>
                      <a:pt x="387593" y="4261207"/>
                      <a:pt x="387593" y="639335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21" name="Google Shape;121;p13"/>
              <p:cNvSpPr/>
              <p:nvPr/>
            </p:nvSpPr>
            <p:spPr>
              <a:xfrm>
                <a:off x="5123269" y="2926994"/>
                <a:ext cx="72240" cy="2395484"/>
              </a:xfrm>
              <a:custGeom>
                <a:rect b="b" l="l" r="r" t="t"/>
                <a:pathLst>
                  <a:path extrusionOk="0" h="6387957" w="192640">
                    <a:moveTo>
                      <a:pt x="0" y="639258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7039" y="0"/>
                      <a:pt x="131766" y="0"/>
                      <a:pt x="198805" y="0"/>
                    </a:cubicBezTo>
                    <a:cubicBezTo>
                      <a:pt x="198805" y="2130603"/>
                      <a:pt x="198805" y="4259666"/>
                      <a:pt x="19880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22" name="Google Shape;122;p13"/>
              <p:cNvSpPr/>
              <p:nvPr/>
            </p:nvSpPr>
            <p:spPr>
              <a:xfrm>
                <a:off x="5611343" y="2927282"/>
                <a:ext cx="72240" cy="2395484"/>
              </a:xfrm>
              <a:custGeom>
                <a:rect b="b" l="l" r="r" t="t"/>
                <a:pathLst>
                  <a:path extrusionOk="0" h="6387957" w="192640">
                    <a:moveTo>
                      <a:pt x="0" y="639258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6268" y="0"/>
                      <a:pt x="131766" y="0"/>
                      <a:pt x="198805" y="0"/>
                    </a:cubicBezTo>
                    <a:cubicBezTo>
                      <a:pt x="198805" y="2131374"/>
                      <a:pt x="198805" y="4261207"/>
                      <a:pt x="19880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23" name="Google Shape;123;p13"/>
              <p:cNvSpPr/>
              <p:nvPr/>
            </p:nvSpPr>
            <p:spPr>
              <a:xfrm>
                <a:off x="5407259" y="2926994"/>
                <a:ext cx="37565" cy="2395484"/>
              </a:xfrm>
              <a:custGeom>
                <a:rect b="b" l="l" r="r" t="t"/>
                <a:pathLst>
                  <a:path extrusionOk="0" h="6387957" w="100173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4675" y="0"/>
                      <a:pt x="67810" y="0"/>
                      <a:pt x="103255" y="0"/>
                    </a:cubicBezTo>
                    <a:cubicBezTo>
                      <a:pt x="103255" y="2130603"/>
                      <a:pt x="103255" y="4259666"/>
                      <a:pt x="10325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24" name="Google Shape;124;p13"/>
              <p:cNvSpPr/>
              <p:nvPr/>
            </p:nvSpPr>
            <p:spPr>
              <a:xfrm>
                <a:off x="5470252" y="2926994"/>
                <a:ext cx="37565" cy="2395484"/>
              </a:xfrm>
              <a:custGeom>
                <a:rect b="b" l="l" r="r" t="t"/>
                <a:pathLst>
                  <a:path extrusionOk="0" h="6387957" w="100173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59666"/>
                      <a:pt x="10325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25" name="Google Shape;125;p13"/>
              <p:cNvSpPr/>
              <p:nvPr/>
            </p:nvSpPr>
            <p:spPr>
              <a:xfrm>
                <a:off x="5533244" y="2926127"/>
                <a:ext cx="37565" cy="2395484"/>
              </a:xfrm>
              <a:custGeom>
                <a:rect b="b" l="l" r="r" t="t"/>
                <a:pathLst>
                  <a:path extrusionOk="0" h="6387957" w="100173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59666"/>
                      <a:pt x="10325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</p:grpSp>
      <p:grpSp>
        <p:nvGrpSpPr>
          <p:cNvPr id="126" name="Google Shape;126;p13"/>
          <p:cNvGrpSpPr/>
          <p:nvPr/>
        </p:nvGrpSpPr>
        <p:grpSpPr>
          <a:xfrm>
            <a:off x="451031" y="6490656"/>
            <a:ext cx="4247753" cy="273665"/>
            <a:chOff x="4366684" y="2926127"/>
            <a:chExt cx="3278346" cy="2572038"/>
          </a:xfrm>
        </p:grpSpPr>
        <p:sp>
          <p:nvSpPr>
            <p:cNvPr id="127" name="Google Shape;127;p13"/>
            <p:cNvSpPr/>
            <p:nvPr/>
          </p:nvSpPr>
          <p:spPr>
            <a:xfrm>
              <a:off x="4744501" y="2926994"/>
              <a:ext cx="72240" cy="2395484"/>
            </a:xfrm>
            <a:custGeom>
              <a:rect b="b" l="l" r="r" t="t"/>
              <a:pathLst>
                <a:path extrusionOk="0" h="6387957" w="192640">
                  <a:moveTo>
                    <a:pt x="0" y="639335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7039" y="0"/>
                    <a:pt x="131766" y="0"/>
                    <a:pt x="198034" y="0"/>
                  </a:cubicBezTo>
                  <a:cubicBezTo>
                    <a:pt x="198034" y="2132145"/>
                    <a:pt x="198034" y="4261207"/>
                    <a:pt x="198034" y="6393351"/>
                  </a:cubicBezTo>
                </a:path>
              </a:pathLst>
            </a:custGeom>
            <a:solidFill>
              <a:srgbClr val="4472C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28" name="Google Shape;128;p13"/>
            <p:cNvSpPr/>
            <p:nvPr/>
          </p:nvSpPr>
          <p:spPr>
            <a:xfrm>
              <a:off x="4676621" y="2926994"/>
              <a:ext cx="37565" cy="2395484"/>
            </a:xfrm>
            <a:custGeom>
              <a:rect b="b" l="l" r="r" t="t"/>
              <a:pathLst>
                <a:path extrusionOk="0" h="6387957" w="100173">
                  <a:moveTo>
                    <a:pt x="0" y="639258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60437"/>
                    <a:pt x="103255" y="6392581"/>
                  </a:cubicBezTo>
                </a:path>
              </a:pathLst>
            </a:custGeom>
            <a:solidFill>
              <a:srgbClr val="4472C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29" name="Google Shape;129;p13"/>
            <p:cNvSpPr/>
            <p:nvPr/>
          </p:nvSpPr>
          <p:spPr>
            <a:xfrm>
              <a:off x="5706626" y="2927282"/>
              <a:ext cx="109805" cy="2395484"/>
            </a:xfrm>
            <a:custGeom>
              <a:rect b="b" l="l" r="r" t="t"/>
              <a:pathLst>
                <a:path extrusionOk="0" h="6387957" w="292813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97091" y="0"/>
                    <a:pt x="194952" y="0"/>
                    <a:pt x="295125" y="0"/>
                  </a:cubicBezTo>
                  <a:cubicBezTo>
                    <a:pt x="295125" y="2130603"/>
                    <a:pt x="295125" y="4259666"/>
                    <a:pt x="295125" y="6392581"/>
                  </a:cubicBezTo>
                </a:path>
              </a:pathLst>
            </a:custGeom>
            <a:solidFill>
              <a:srgbClr val="ED7D3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30" name="Google Shape;130;p13"/>
            <p:cNvSpPr/>
            <p:nvPr/>
          </p:nvSpPr>
          <p:spPr>
            <a:xfrm>
              <a:off x="5022376" y="2926994"/>
              <a:ext cx="75130" cy="2395484"/>
            </a:xfrm>
            <a:custGeom>
              <a:rect b="b" l="l" r="r" t="t"/>
              <a:pathLst>
                <a:path extrusionOk="0" h="6387957" w="200346">
                  <a:moveTo>
                    <a:pt x="0" y="639258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7039" y="0"/>
                    <a:pt x="133307" y="0"/>
                    <a:pt x="201117" y="0"/>
                  </a:cubicBezTo>
                  <a:cubicBezTo>
                    <a:pt x="201117" y="2131374"/>
                    <a:pt x="201117" y="4260437"/>
                    <a:pt x="201117" y="6392581"/>
                  </a:cubicBezTo>
                </a:path>
              </a:pathLst>
            </a:custGeom>
            <a:solidFill>
              <a:srgbClr val="FFC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31" name="Google Shape;131;p13"/>
            <p:cNvSpPr/>
            <p:nvPr/>
          </p:nvSpPr>
          <p:spPr>
            <a:xfrm>
              <a:off x="4877829" y="2926994"/>
              <a:ext cx="72240" cy="2395484"/>
            </a:xfrm>
            <a:custGeom>
              <a:rect b="b" l="l" r="r" t="t"/>
              <a:pathLst>
                <a:path extrusionOk="0" h="6387957" w="192640">
                  <a:moveTo>
                    <a:pt x="0" y="639258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67039" y="0"/>
                    <a:pt x="131766" y="0"/>
                    <a:pt x="198805" y="0"/>
                  </a:cubicBezTo>
                  <a:cubicBezTo>
                    <a:pt x="198805" y="2130603"/>
                    <a:pt x="198805" y="4260437"/>
                    <a:pt x="198805" y="6392581"/>
                  </a:cubicBezTo>
                </a:path>
              </a:pathLst>
            </a:custGeom>
            <a:solidFill>
              <a:srgbClr val="FFC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32" name="Google Shape;132;p13"/>
            <p:cNvSpPr/>
            <p:nvPr/>
          </p:nvSpPr>
          <p:spPr>
            <a:xfrm>
              <a:off x="4559765" y="2926994"/>
              <a:ext cx="72240" cy="2395484"/>
            </a:xfrm>
            <a:custGeom>
              <a:rect b="b" l="l" r="r" t="t"/>
              <a:pathLst>
                <a:path extrusionOk="0" h="6387957" w="192640">
                  <a:moveTo>
                    <a:pt x="0" y="639335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7039" y="0"/>
                    <a:pt x="131766" y="0"/>
                    <a:pt x="198034" y="0"/>
                  </a:cubicBezTo>
                  <a:cubicBezTo>
                    <a:pt x="198034" y="2132145"/>
                    <a:pt x="198034" y="4261207"/>
                    <a:pt x="198034" y="6393351"/>
                  </a:cubicBezTo>
                </a:path>
              </a:pathLst>
            </a:custGeom>
            <a:solidFill>
              <a:srgbClr val="70AD47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33" name="Google Shape;133;p13"/>
            <p:cNvSpPr/>
            <p:nvPr/>
          </p:nvSpPr>
          <p:spPr>
            <a:xfrm>
              <a:off x="4433987" y="2926705"/>
              <a:ext cx="37565" cy="2568860"/>
            </a:xfrm>
            <a:custGeom>
              <a:rect b="b" l="l" r="r" t="t"/>
              <a:pathLst>
                <a:path extrusionOk="0" h="6850294" w="100173">
                  <a:moveTo>
                    <a:pt x="0" y="6854918"/>
                  </a:moveTo>
                  <a:cubicBezTo>
                    <a:pt x="0" y="4570202"/>
                    <a:pt x="0" y="2286257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284716"/>
                    <a:pt x="103255" y="4567891"/>
                    <a:pt x="103255" y="6854918"/>
                  </a:cubicBezTo>
                </a:path>
              </a:pathLst>
            </a:custGeom>
            <a:solidFill>
              <a:srgbClr val="70AD47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34" name="Google Shape;134;p13"/>
            <p:cNvSpPr/>
            <p:nvPr/>
          </p:nvSpPr>
          <p:spPr>
            <a:xfrm>
              <a:off x="4366684" y="2927282"/>
              <a:ext cx="37565" cy="2568860"/>
            </a:xfrm>
            <a:custGeom>
              <a:rect b="b" l="l" r="r" t="t"/>
              <a:pathLst>
                <a:path extrusionOk="0" h="6850294" w="100173">
                  <a:moveTo>
                    <a:pt x="0" y="6854148"/>
                  </a:moveTo>
                  <a:cubicBezTo>
                    <a:pt x="0" y="4569432"/>
                    <a:pt x="0" y="2286257"/>
                    <a:pt x="0" y="0"/>
                  </a:cubicBezTo>
                  <a:cubicBezTo>
                    <a:pt x="33905" y="0"/>
                    <a:pt x="67809" y="0"/>
                    <a:pt x="103255" y="0"/>
                  </a:cubicBezTo>
                  <a:cubicBezTo>
                    <a:pt x="103255" y="2285486"/>
                    <a:pt x="103255" y="4568661"/>
                    <a:pt x="103255" y="6854918"/>
                  </a:cubicBezTo>
                </a:path>
              </a:pathLst>
            </a:custGeom>
            <a:solidFill>
              <a:srgbClr val="70AD47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35" name="Google Shape;135;p13"/>
            <p:cNvSpPr/>
            <p:nvPr/>
          </p:nvSpPr>
          <p:spPr>
            <a:xfrm>
              <a:off x="5957386" y="2926705"/>
              <a:ext cx="37565" cy="2568860"/>
            </a:xfrm>
            <a:custGeom>
              <a:rect b="b" l="l" r="r" t="t"/>
              <a:pathLst>
                <a:path extrusionOk="0" h="6850294" w="100173">
                  <a:moveTo>
                    <a:pt x="0" y="6854918"/>
                  </a:moveTo>
                  <a:cubicBezTo>
                    <a:pt x="0" y="4570202"/>
                    <a:pt x="0" y="2286257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283945"/>
                    <a:pt x="103255" y="4567891"/>
                    <a:pt x="103255" y="6854918"/>
                  </a:cubicBezTo>
                </a:path>
              </a:pathLst>
            </a:custGeom>
            <a:solidFill>
              <a:srgbClr val="70AD47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36" name="Google Shape;136;p13"/>
            <p:cNvSpPr/>
            <p:nvPr/>
          </p:nvSpPr>
          <p:spPr>
            <a:xfrm>
              <a:off x="6024689" y="2926127"/>
              <a:ext cx="37565" cy="2568860"/>
            </a:xfrm>
            <a:custGeom>
              <a:rect b="b" l="l" r="r" t="t"/>
              <a:pathLst>
                <a:path extrusionOk="0" h="6850294" w="100173">
                  <a:moveTo>
                    <a:pt x="0" y="6857230"/>
                  </a:moveTo>
                  <a:cubicBezTo>
                    <a:pt x="0" y="4572514"/>
                    <a:pt x="0" y="2288569"/>
                    <a:pt x="0" y="0"/>
                  </a:cubicBezTo>
                  <a:cubicBezTo>
                    <a:pt x="17723" y="0"/>
                    <a:pt x="34675" y="0"/>
                    <a:pt x="52398" y="0"/>
                  </a:cubicBezTo>
                  <a:cubicBezTo>
                    <a:pt x="68580" y="0"/>
                    <a:pt x="84762" y="0"/>
                    <a:pt x="103255" y="0"/>
                  </a:cubicBezTo>
                  <a:cubicBezTo>
                    <a:pt x="103255" y="2287798"/>
                    <a:pt x="103255" y="4571743"/>
                    <a:pt x="103255" y="6857230"/>
                  </a:cubicBezTo>
                </a:path>
              </a:pathLst>
            </a:custGeom>
            <a:solidFill>
              <a:srgbClr val="70AD47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37" name="Google Shape;137;p13"/>
            <p:cNvSpPr/>
            <p:nvPr/>
          </p:nvSpPr>
          <p:spPr>
            <a:xfrm>
              <a:off x="5890084" y="2926994"/>
              <a:ext cx="37565" cy="2395484"/>
            </a:xfrm>
            <a:custGeom>
              <a:rect b="b" l="l" r="r" t="t"/>
              <a:pathLst>
                <a:path extrusionOk="0" h="6387957" w="100173">
                  <a:moveTo>
                    <a:pt x="0" y="6392581"/>
                  </a:moveTo>
                  <a:cubicBezTo>
                    <a:pt x="0" y="4262748"/>
                    <a:pt x="0" y="2132145"/>
                    <a:pt x="0" y="0"/>
                  </a:cubicBezTo>
                  <a:cubicBezTo>
                    <a:pt x="33904" y="0"/>
                    <a:pt x="67039" y="0"/>
                    <a:pt x="101714" y="0"/>
                  </a:cubicBezTo>
                  <a:cubicBezTo>
                    <a:pt x="101714" y="2130603"/>
                    <a:pt x="101714" y="4260437"/>
                    <a:pt x="101714" y="6392581"/>
                  </a:cubicBezTo>
                </a:path>
              </a:pathLst>
            </a:custGeom>
            <a:solidFill>
              <a:srgbClr val="70AD47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38" name="Google Shape;138;p13"/>
            <p:cNvSpPr/>
            <p:nvPr/>
          </p:nvSpPr>
          <p:spPr>
            <a:xfrm>
              <a:off x="6091991" y="2926994"/>
              <a:ext cx="37565" cy="2395484"/>
            </a:xfrm>
            <a:custGeom>
              <a:rect b="b" l="l" r="r" t="t"/>
              <a:pathLst>
                <a:path extrusionOk="0" h="6387957" w="100173">
                  <a:moveTo>
                    <a:pt x="0" y="6393351"/>
                  </a:moveTo>
                  <a:cubicBezTo>
                    <a:pt x="0" y="4261978"/>
                    <a:pt x="0" y="2132915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1374"/>
                    <a:pt x="103255" y="4261207"/>
                    <a:pt x="103255" y="6393351"/>
                  </a:cubicBezTo>
                </a:path>
              </a:pathLst>
            </a:custGeom>
            <a:solidFill>
              <a:srgbClr val="70AD47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39" name="Google Shape;139;p13"/>
            <p:cNvSpPr/>
            <p:nvPr/>
          </p:nvSpPr>
          <p:spPr>
            <a:xfrm>
              <a:off x="7139759" y="2926994"/>
              <a:ext cx="109805" cy="2395484"/>
            </a:xfrm>
            <a:custGeom>
              <a:rect b="b" l="l" r="r" t="t"/>
              <a:pathLst>
                <a:path extrusionOk="0" h="6387957" w="292813">
                  <a:moveTo>
                    <a:pt x="0" y="639335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99403" y="0"/>
                    <a:pt x="196493" y="0"/>
                    <a:pt x="295125" y="0"/>
                  </a:cubicBezTo>
                  <a:cubicBezTo>
                    <a:pt x="295125" y="2132145"/>
                    <a:pt x="295125" y="4261207"/>
                    <a:pt x="295125" y="6393351"/>
                  </a:cubicBezTo>
                </a:path>
              </a:pathLst>
            </a:custGeom>
            <a:solidFill>
              <a:srgbClr val="ED7D3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40" name="Google Shape;140;p13"/>
            <p:cNvSpPr/>
            <p:nvPr/>
          </p:nvSpPr>
          <p:spPr>
            <a:xfrm>
              <a:off x="7280788" y="2926994"/>
              <a:ext cx="37565" cy="2395484"/>
            </a:xfrm>
            <a:custGeom>
              <a:rect b="b" l="l" r="r" t="t"/>
              <a:pathLst>
                <a:path extrusionOk="0" h="6387957" w="100173">
                  <a:moveTo>
                    <a:pt x="0" y="639258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60437"/>
                    <a:pt x="103255" y="6392581"/>
                  </a:cubicBezTo>
                </a:path>
              </a:pathLst>
            </a:custGeom>
            <a:solidFill>
              <a:srgbClr val="ED7D3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41" name="Google Shape;141;p13"/>
            <p:cNvSpPr/>
            <p:nvPr/>
          </p:nvSpPr>
          <p:spPr>
            <a:xfrm>
              <a:off x="7349773" y="2926994"/>
              <a:ext cx="109805" cy="2395484"/>
            </a:xfrm>
            <a:custGeom>
              <a:rect b="b" l="l" r="r" t="t"/>
              <a:pathLst>
                <a:path extrusionOk="0" h="6387957" w="292813">
                  <a:moveTo>
                    <a:pt x="0" y="639335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99402" y="0"/>
                    <a:pt x="195722" y="0"/>
                    <a:pt x="295125" y="0"/>
                  </a:cubicBezTo>
                  <a:cubicBezTo>
                    <a:pt x="295125" y="2132145"/>
                    <a:pt x="295125" y="4261207"/>
                    <a:pt x="295125" y="6393351"/>
                  </a:cubicBezTo>
                </a:path>
              </a:pathLst>
            </a:custGeom>
            <a:solidFill>
              <a:srgbClr val="5B9BD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42" name="Google Shape;142;p13"/>
            <p:cNvSpPr/>
            <p:nvPr/>
          </p:nvSpPr>
          <p:spPr>
            <a:xfrm>
              <a:off x="7548511" y="2927282"/>
              <a:ext cx="41926" cy="2570883"/>
            </a:xfrm>
            <a:custGeom>
              <a:rect b="b" l="l" r="r" t="t"/>
              <a:pathLst>
                <a:path extrusionOk="0" h="6855688" w="111804">
                  <a:moveTo>
                    <a:pt x="0" y="6853478"/>
                  </a:moveTo>
                  <a:cubicBezTo>
                    <a:pt x="14640" y="4603437"/>
                    <a:pt x="3155" y="2253123"/>
                    <a:pt x="6237" y="0"/>
                  </a:cubicBezTo>
                  <a:lnTo>
                    <a:pt x="111804" y="0"/>
                  </a:lnTo>
                  <a:lnTo>
                    <a:pt x="111804" y="6855688"/>
                  </a:lnTo>
                </a:path>
              </a:pathLst>
            </a:custGeom>
            <a:solidFill>
              <a:srgbClr val="5B9BD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43" name="Google Shape;143;p13"/>
            <p:cNvSpPr/>
            <p:nvPr/>
          </p:nvSpPr>
          <p:spPr>
            <a:xfrm>
              <a:off x="7485249" y="2926994"/>
              <a:ext cx="37565" cy="2395484"/>
            </a:xfrm>
            <a:custGeom>
              <a:rect b="b" l="l" r="r" t="t"/>
              <a:pathLst>
                <a:path extrusionOk="0" h="6387957" w="100173">
                  <a:moveTo>
                    <a:pt x="0" y="639258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60437"/>
                    <a:pt x="103255" y="6392581"/>
                  </a:cubicBezTo>
                </a:path>
              </a:pathLst>
            </a:custGeom>
            <a:solidFill>
              <a:srgbClr val="5B9BD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44" name="Google Shape;144;p13"/>
            <p:cNvSpPr/>
            <p:nvPr/>
          </p:nvSpPr>
          <p:spPr>
            <a:xfrm>
              <a:off x="7616134" y="2926994"/>
              <a:ext cx="28896" cy="2568860"/>
            </a:xfrm>
            <a:custGeom>
              <a:rect b="b" l="l" r="r" t="t"/>
              <a:pathLst>
                <a:path extrusionOk="0" h="6850294" w="77056">
                  <a:moveTo>
                    <a:pt x="0" y="6854918"/>
                  </a:moveTo>
                  <a:cubicBezTo>
                    <a:pt x="0" y="4570202"/>
                    <a:pt x="0" y="2286257"/>
                    <a:pt x="0" y="0"/>
                  </a:cubicBezTo>
                  <a:cubicBezTo>
                    <a:pt x="25428" y="0"/>
                    <a:pt x="50087" y="0"/>
                    <a:pt x="78597" y="0"/>
                  </a:cubicBezTo>
                  <a:cubicBezTo>
                    <a:pt x="78597" y="2283175"/>
                    <a:pt x="78597" y="4566350"/>
                    <a:pt x="78597" y="6854918"/>
                  </a:cubicBezTo>
                </a:path>
              </a:pathLst>
            </a:custGeom>
            <a:solidFill>
              <a:srgbClr val="5B9BD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45" name="Google Shape;145;p13"/>
            <p:cNvSpPr/>
            <p:nvPr/>
          </p:nvSpPr>
          <p:spPr>
            <a:xfrm>
              <a:off x="6838507" y="2926994"/>
              <a:ext cx="109805" cy="2395484"/>
            </a:xfrm>
            <a:custGeom>
              <a:rect b="b" l="l" r="r" t="t"/>
              <a:pathLst>
                <a:path extrusionOk="0" h="6387957" w="292813">
                  <a:moveTo>
                    <a:pt x="0" y="639335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99403" y="0"/>
                    <a:pt x="196493" y="0"/>
                    <a:pt x="295125" y="0"/>
                  </a:cubicBezTo>
                  <a:cubicBezTo>
                    <a:pt x="295125" y="2132145"/>
                    <a:pt x="295125" y="4261207"/>
                    <a:pt x="295125" y="6393351"/>
                  </a:cubicBezTo>
                </a:path>
              </a:pathLst>
            </a:custGeom>
            <a:solidFill>
              <a:srgbClr val="A5A5A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46" name="Google Shape;146;p13"/>
            <p:cNvSpPr/>
            <p:nvPr/>
          </p:nvSpPr>
          <p:spPr>
            <a:xfrm>
              <a:off x="6980994" y="2927282"/>
              <a:ext cx="37565" cy="2395484"/>
            </a:xfrm>
            <a:custGeom>
              <a:rect b="b" l="l" r="r" t="t"/>
              <a:pathLst>
                <a:path extrusionOk="0" h="6387957" w="100173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3904" y="0"/>
                    <a:pt x="67809" y="0"/>
                    <a:pt x="103255" y="0"/>
                  </a:cubicBezTo>
                  <a:cubicBezTo>
                    <a:pt x="103255" y="2130603"/>
                    <a:pt x="103255" y="4258895"/>
                    <a:pt x="103255" y="6392581"/>
                  </a:cubicBezTo>
                </a:path>
              </a:pathLst>
            </a:custGeom>
            <a:solidFill>
              <a:srgbClr val="A5A5A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47" name="Google Shape;147;p13"/>
            <p:cNvSpPr/>
            <p:nvPr/>
          </p:nvSpPr>
          <p:spPr>
            <a:xfrm>
              <a:off x="7065051" y="2926994"/>
              <a:ext cx="37565" cy="2395484"/>
            </a:xfrm>
            <a:custGeom>
              <a:rect b="b" l="l" r="r" t="t"/>
              <a:pathLst>
                <a:path extrusionOk="0" h="6387957" w="100173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3904" y="0"/>
                    <a:pt x="67809" y="0"/>
                    <a:pt x="103255" y="0"/>
                  </a:cubicBezTo>
                  <a:cubicBezTo>
                    <a:pt x="103255" y="2130603"/>
                    <a:pt x="103255" y="4258895"/>
                    <a:pt x="103255" y="6392581"/>
                  </a:cubicBezTo>
                </a:path>
              </a:pathLst>
            </a:custGeom>
            <a:solidFill>
              <a:srgbClr val="A5A5A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48" name="Google Shape;148;p13"/>
            <p:cNvSpPr/>
            <p:nvPr/>
          </p:nvSpPr>
          <p:spPr>
            <a:xfrm>
              <a:off x="6754449" y="2926127"/>
              <a:ext cx="37565" cy="2395484"/>
            </a:xfrm>
            <a:custGeom>
              <a:rect b="b" l="l" r="r" t="t"/>
              <a:pathLst>
                <a:path extrusionOk="0" h="6387957" w="100173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3905" y="0"/>
                    <a:pt x="67810" y="0"/>
                    <a:pt x="103255" y="0"/>
                  </a:cubicBezTo>
                  <a:cubicBezTo>
                    <a:pt x="103255" y="2131374"/>
                    <a:pt x="103255" y="4260436"/>
                    <a:pt x="103255" y="6392581"/>
                  </a:cubicBezTo>
                </a:path>
              </a:pathLst>
            </a:custGeom>
            <a:solidFill>
              <a:srgbClr val="A5A5A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49" name="Google Shape;149;p13"/>
            <p:cNvSpPr/>
            <p:nvPr/>
          </p:nvSpPr>
          <p:spPr>
            <a:xfrm>
              <a:off x="6334914" y="2927282"/>
              <a:ext cx="37565" cy="2395484"/>
            </a:xfrm>
            <a:custGeom>
              <a:rect b="b" l="l" r="r" t="t"/>
              <a:pathLst>
                <a:path extrusionOk="0" h="6387957" w="100173">
                  <a:moveTo>
                    <a:pt x="0" y="6393351"/>
                  </a:moveTo>
                  <a:cubicBezTo>
                    <a:pt x="0" y="4262748"/>
                    <a:pt x="0" y="2132915"/>
                    <a:pt x="0" y="0"/>
                  </a:cubicBezTo>
                  <a:cubicBezTo>
                    <a:pt x="33904" y="0"/>
                    <a:pt x="67809" y="0"/>
                    <a:pt x="103255" y="0"/>
                  </a:cubicBezTo>
                  <a:cubicBezTo>
                    <a:pt x="103255" y="2131374"/>
                    <a:pt x="103255" y="4260436"/>
                    <a:pt x="103255" y="6393351"/>
                  </a:cubicBezTo>
                </a:path>
              </a:pathLst>
            </a:custGeom>
            <a:solidFill>
              <a:srgbClr val="4472C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50" name="Google Shape;150;p13"/>
            <p:cNvSpPr/>
            <p:nvPr/>
          </p:nvSpPr>
          <p:spPr>
            <a:xfrm>
              <a:off x="6159871" y="2926127"/>
              <a:ext cx="37565" cy="2398373"/>
            </a:xfrm>
            <a:custGeom>
              <a:rect b="b" l="l" r="r" t="t"/>
              <a:pathLst>
                <a:path extrusionOk="0" h="6395662" w="100173">
                  <a:moveTo>
                    <a:pt x="0" y="6395663"/>
                  </a:moveTo>
                  <a:cubicBezTo>
                    <a:pt x="0" y="4265060"/>
                    <a:pt x="0" y="2135227"/>
                    <a:pt x="0" y="0"/>
                  </a:cubicBezTo>
                  <a:cubicBezTo>
                    <a:pt x="17723" y="0"/>
                    <a:pt x="34675" y="0"/>
                    <a:pt x="52398" y="0"/>
                  </a:cubicBezTo>
                  <a:cubicBezTo>
                    <a:pt x="68580" y="0"/>
                    <a:pt x="84762" y="0"/>
                    <a:pt x="103255" y="0"/>
                  </a:cubicBezTo>
                  <a:cubicBezTo>
                    <a:pt x="103255" y="2132915"/>
                    <a:pt x="103255" y="4261977"/>
                    <a:pt x="103255" y="6395663"/>
                  </a:cubicBezTo>
                </a:path>
              </a:pathLst>
            </a:custGeom>
            <a:solidFill>
              <a:srgbClr val="4472C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51" name="Google Shape;151;p13"/>
            <p:cNvSpPr/>
            <p:nvPr/>
          </p:nvSpPr>
          <p:spPr>
            <a:xfrm>
              <a:off x="6231712" y="2926127"/>
              <a:ext cx="72240" cy="2395484"/>
            </a:xfrm>
            <a:custGeom>
              <a:rect b="b" l="l" r="r" t="t"/>
              <a:pathLst>
                <a:path extrusionOk="0" h="6387957" w="192640">
                  <a:moveTo>
                    <a:pt x="0" y="639258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6268" y="0"/>
                    <a:pt x="131766" y="0"/>
                    <a:pt x="198805" y="0"/>
                  </a:cubicBezTo>
                  <a:cubicBezTo>
                    <a:pt x="198805" y="2131374"/>
                    <a:pt x="198805" y="4261207"/>
                    <a:pt x="198805" y="6392581"/>
                  </a:cubicBezTo>
                </a:path>
              </a:pathLst>
            </a:custGeom>
            <a:solidFill>
              <a:srgbClr val="4472C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52" name="Google Shape;152;p13"/>
            <p:cNvSpPr/>
            <p:nvPr/>
          </p:nvSpPr>
          <p:spPr>
            <a:xfrm>
              <a:off x="6598401" y="2927282"/>
              <a:ext cx="37565" cy="2395484"/>
            </a:xfrm>
            <a:custGeom>
              <a:rect b="b" l="l" r="r" t="t"/>
              <a:pathLst>
                <a:path extrusionOk="0" h="6387957" w="100173">
                  <a:moveTo>
                    <a:pt x="0" y="639258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60437"/>
                    <a:pt x="103255" y="6392581"/>
                  </a:cubicBezTo>
                </a:path>
              </a:pathLst>
            </a:custGeom>
            <a:solidFill>
              <a:srgbClr val="FFC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53" name="Google Shape;153;p13"/>
            <p:cNvSpPr/>
            <p:nvPr/>
          </p:nvSpPr>
          <p:spPr>
            <a:xfrm>
              <a:off x="6680669" y="2927282"/>
              <a:ext cx="37565" cy="2395484"/>
            </a:xfrm>
            <a:custGeom>
              <a:rect b="b" l="l" r="r" t="t"/>
              <a:pathLst>
                <a:path extrusionOk="0" h="6387957" w="100173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3905" y="0"/>
                    <a:pt x="67810" y="0"/>
                    <a:pt x="103255" y="0"/>
                  </a:cubicBezTo>
                  <a:cubicBezTo>
                    <a:pt x="103255" y="2131374"/>
                    <a:pt x="103255" y="4260436"/>
                    <a:pt x="103255" y="6392581"/>
                  </a:cubicBezTo>
                </a:path>
              </a:pathLst>
            </a:custGeom>
            <a:solidFill>
              <a:srgbClr val="FFC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54" name="Google Shape;154;p13"/>
            <p:cNvSpPr/>
            <p:nvPr/>
          </p:nvSpPr>
          <p:spPr>
            <a:xfrm>
              <a:off x="6516134" y="2927282"/>
              <a:ext cx="37565" cy="2395484"/>
            </a:xfrm>
            <a:custGeom>
              <a:rect b="b" l="l" r="r" t="t"/>
              <a:pathLst>
                <a:path extrusionOk="0" h="6387957" w="100173">
                  <a:moveTo>
                    <a:pt x="0" y="639181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3134" y="0"/>
                    <a:pt x="67039" y="0"/>
                    <a:pt x="103255" y="0"/>
                  </a:cubicBezTo>
                  <a:cubicBezTo>
                    <a:pt x="103255" y="2130603"/>
                    <a:pt x="103255" y="4260436"/>
                    <a:pt x="103255" y="6391811"/>
                  </a:cubicBezTo>
                </a:path>
              </a:pathLst>
            </a:custGeom>
            <a:solidFill>
              <a:srgbClr val="FFC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55" name="Google Shape;155;p13"/>
            <p:cNvSpPr/>
            <p:nvPr/>
          </p:nvSpPr>
          <p:spPr>
            <a:xfrm>
              <a:off x="6399205" y="2927282"/>
              <a:ext cx="72240" cy="2395484"/>
            </a:xfrm>
            <a:custGeom>
              <a:rect b="b" l="l" r="r" t="t"/>
              <a:pathLst>
                <a:path extrusionOk="0" h="6387957" w="192640">
                  <a:moveTo>
                    <a:pt x="0" y="639258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6268" y="0"/>
                    <a:pt x="131766" y="0"/>
                    <a:pt x="198805" y="0"/>
                  </a:cubicBezTo>
                  <a:cubicBezTo>
                    <a:pt x="198805" y="2131374"/>
                    <a:pt x="198805" y="4261207"/>
                    <a:pt x="198805" y="6392581"/>
                  </a:cubicBezTo>
                </a:path>
              </a:pathLst>
            </a:custGeom>
            <a:solidFill>
              <a:srgbClr val="FFC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56" name="Google Shape;156;p13"/>
            <p:cNvSpPr/>
            <p:nvPr/>
          </p:nvSpPr>
          <p:spPr>
            <a:xfrm>
              <a:off x="5237391" y="2926127"/>
              <a:ext cx="144480" cy="2395484"/>
            </a:xfrm>
            <a:custGeom>
              <a:rect b="b" l="l" r="r" t="t"/>
              <a:pathLst>
                <a:path extrusionOk="0" h="6387957" w="385280">
                  <a:moveTo>
                    <a:pt x="0" y="6393351"/>
                  </a:moveTo>
                  <a:cubicBezTo>
                    <a:pt x="0" y="4262748"/>
                    <a:pt x="0" y="2132145"/>
                    <a:pt x="0" y="0"/>
                  </a:cubicBezTo>
                  <a:cubicBezTo>
                    <a:pt x="128684" y="0"/>
                    <a:pt x="256597" y="0"/>
                    <a:pt x="387593" y="0"/>
                  </a:cubicBezTo>
                  <a:cubicBezTo>
                    <a:pt x="387593" y="2130603"/>
                    <a:pt x="387593" y="4261207"/>
                    <a:pt x="387593" y="6393351"/>
                  </a:cubicBezTo>
                </a:path>
              </a:pathLst>
            </a:custGeom>
            <a:solidFill>
              <a:srgbClr val="A5A5A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57" name="Google Shape;157;p13"/>
            <p:cNvSpPr/>
            <p:nvPr/>
          </p:nvSpPr>
          <p:spPr>
            <a:xfrm>
              <a:off x="5123269" y="2926994"/>
              <a:ext cx="72240" cy="2395484"/>
            </a:xfrm>
            <a:custGeom>
              <a:rect b="b" l="l" r="r" t="t"/>
              <a:pathLst>
                <a:path extrusionOk="0" h="6387957" w="192640">
                  <a:moveTo>
                    <a:pt x="0" y="639258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7039" y="0"/>
                    <a:pt x="131766" y="0"/>
                    <a:pt x="198805" y="0"/>
                  </a:cubicBezTo>
                  <a:cubicBezTo>
                    <a:pt x="198805" y="2130603"/>
                    <a:pt x="198805" y="4259666"/>
                    <a:pt x="198805" y="6392581"/>
                  </a:cubicBezTo>
                </a:path>
              </a:pathLst>
            </a:custGeom>
            <a:solidFill>
              <a:srgbClr val="A5A5A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58" name="Google Shape;158;p13"/>
            <p:cNvSpPr/>
            <p:nvPr/>
          </p:nvSpPr>
          <p:spPr>
            <a:xfrm>
              <a:off x="5611343" y="2927282"/>
              <a:ext cx="72240" cy="2395484"/>
            </a:xfrm>
            <a:custGeom>
              <a:rect b="b" l="l" r="r" t="t"/>
              <a:pathLst>
                <a:path extrusionOk="0" h="6387957" w="192640">
                  <a:moveTo>
                    <a:pt x="0" y="639258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6268" y="0"/>
                    <a:pt x="131766" y="0"/>
                    <a:pt x="198805" y="0"/>
                  </a:cubicBezTo>
                  <a:cubicBezTo>
                    <a:pt x="198805" y="2131374"/>
                    <a:pt x="198805" y="4261207"/>
                    <a:pt x="198805" y="6392581"/>
                  </a:cubicBezTo>
                </a:path>
              </a:pathLst>
            </a:custGeom>
            <a:solidFill>
              <a:srgbClr val="A5A5A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59" name="Google Shape;159;p13"/>
            <p:cNvSpPr/>
            <p:nvPr/>
          </p:nvSpPr>
          <p:spPr>
            <a:xfrm>
              <a:off x="5407259" y="2926994"/>
              <a:ext cx="37565" cy="2395484"/>
            </a:xfrm>
            <a:custGeom>
              <a:rect b="b" l="l" r="r" t="t"/>
              <a:pathLst>
                <a:path extrusionOk="0" h="6387957" w="100173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4675" y="0"/>
                    <a:pt x="67810" y="0"/>
                    <a:pt x="103255" y="0"/>
                  </a:cubicBezTo>
                  <a:cubicBezTo>
                    <a:pt x="103255" y="2130603"/>
                    <a:pt x="103255" y="4259666"/>
                    <a:pt x="103255" y="6392581"/>
                  </a:cubicBezTo>
                </a:path>
              </a:pathLst>
            </a:custGeom>
            <a:solidFill>
              <a:srgbClr val="A5A5A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60" name="Google Shape;160;p13"/>
            <p:cNvSpPr/>
            <p:nvPr/>
          </p:nvSpPr>
          <p:spPr>
            <a:xfrm>
              <a:off x="5470252" y="2926994"/>
              <a:ext cx="37565" cy="2395484"/>
            </a:xfrm>
            <a:custGeom>
              <a:rect b="b" l="l" r="r" t="t"/>
              <a:pathLst>
                <a:path extrusionOk="0" h="6387957" w="100173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59666"/>
                    <a:pt x="103255" y="6392581"/>
                  </a:cubicBezTo>
                </a:path>
              </a:pathLst>
            </a:custGeom>
            <a:solidFill>
              <a:srgbClr val="A5A5A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61" name="Google Shape;161;p13"/>
            <p:cNvSpPr/>
            <p:nvPr/>
          </p:nvSpPr>
          <p:spPr>
            <a:xfrm>
              <a:off x="5533244" y="2926127"/>
              <a:ext cx="37565" cy="2395484"/>
            </a:xfrm>
            <a:custGeom>
              <a:rect b="b" l="l" r="r" t="t"/>
              <a:pathLst>
                <a:path extrusionOk="0" h="6387957" w="100173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59666"/>
                    <a:pt x="103255" y="6392581"/>
                  </a:cubicBezTo>
                </a:path>
              </a:pathLst>
            </a:custGeom>
            <a:solidFill>
              <a:srgbClr val="A5A5A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pic>
        <p:nvPicPr>
          <p:cNvPr id="162" name="Google Shape;162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62521" y="190223"/>
            <a:ext cx="6879347" cy="99974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63" name="Google Shape;163;p13"/>
          <p:cNvGrpSpPr/>
          <p:nvPr/>
        </p:nvGrpSpPr>
        <p:grpSpPr>
          <a:xfrm>
            <a:off x="4815395" y="6382131"/>
            <a:ext cx="7369500" cy="465300"/>
            <a:chOff x="4817758" y="6382984"/>
            <a:chExt cx="7369500" cy="465300"/>
          </a:xfrm>
        </p:grpSpPr>
        <p:sp>
          <p:nvSpPr>
            <p:cNvPr id="164" name="Google Shape;164;p13"/>
            <p:cNvSpPr/>
            <p:nvPr/>
          </p:nvSpPr>
          <p:spPr>
            <a:xfrm>
              <a:off x="4817758" y="6382984"/>
              <a:ext cx="7369500" cy="465300"/>
            </a:xfrm>
            <a:prstGeom prst="rect">
              <a:avLst/>
            </a:prstGeom>
            <a:solidFill>
              <a:srgbClr val="FFFFFF"/>
            </a:solidFill>
            <a:ln cap="flat" cmpd="sng" w="12700">
              <a:solidFill>
                <a:srgbClr val="FFFFF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165" name="Google Shape;165;p13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4873655" y="6397831"/>
              <a:ext cx="7281505" cy="417465"/>
            </a:xfrm>
            <a:prstGeom prst="rect">
              <a:avLst/>
            </a:prstGeom>
            <a:noFill/>
            <a:ln cap="flat" cmpd="sng" w="952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</p:pic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14"/>
          <p:cNvSpPr txBox="1"/>
          <p:nvPr/>
        </p:nvSpPr>
        <p:spPr>
          <a:xfrm>
            <a:off x="203375" y="1361900"/>
            <a:ext cx="7200900" cy="34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50" u="none" cap="none" strike="noStrike">
                <a:solidFill>
                  <a:srgbClr val="004D99"/>
                </a:solidFill>
                <a:latin typeface="Montserrat"/>
                <a:ea typeface="Montserrat"/>
                <a:cs typeface="Montserrat"/>
                <a:sym typeface="Montserrat"/>
              </a:rPr>
              <a:t>The Mandate of MGNREGA</a:t>
            </a:r>
            <a:endParaRPr/>
          </a:p>
        </p:txBody>
      </p:sp>
      <p:sp>
        <p:nvSpPr>
          <p:cNvPr id="171" name="Google Shape;171;p14"/>
          <p:cNvSpPr txBox="1"/>
          <p:nvPr/>
        </p:nvSpPr>
        <p:spPr>
          <a:xfrm>
            <a:off x="203375" y="4181300"/>
            <a:ext cx="6858000" cy="6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1F2937"/>
                </a:solidFill>
                <a:latin typeface="Roboto"/>
                <a:ea typeface="Roboto"/>
                <a:cs typeface="Roboto"/>
                <a:sym typeface="Roboto"/>
              </a:rPr>
              <a:t>Our analysis spans </a:t>
            </a:r>
            <a:r>
              <a:rPr b="1" i="0" lang="en-US" sz="1500" u="none" cap="none" strike="noStrike">
                <a:solidFill>
                  <a:srgbClr val="1F2937"/>
                </a:solidFill>
                <a:latin typeface="Roboto"/>
                <a:ea typeface="Roboto"/>
                <a:cs typeface="Roboto"/>
                <a:sym typeface="Roboto"/>
              </a:rPr>
              <a:t>2018-2024 </a:t>
            </a:r>
            <a:r>
              <a:rPr b="0" i="0" lang="en-US" sz="1500" u="none" cap="none" strike="noStrike">
                <a:solidFill>
                  <a:srgbClr val="1F2937"/>
                </a:solidFill>
                <a:latin typeface="Roboto"/>
                <a:ea typeface="Roboto"/>
                <a:cs typeface="Roboto"/>
                <a:sym typeface="Roboto"/>
              </a:rPr>
              <a:t>data (300k+ records) to build robust, scalable predictive tools for resource optimization.</a:t>
            </a:r>
            <a:endParaRPr/>
          </a:p>
        </p:txBody>
      </p:sp>
      <p:sp>
        <p:nvSpPr>
          <p:cNvPr id="172" name="Google Shape;172;p14"/>
          <p:cNvSpPr txBox="1"/>
          <p:nvPr/>
        </p:nvSpPr>
        <p:spPr>
          <a:xfrm>
            <a:off x="489125" y="1857200"/>
            <a:ext cx="6572400" cy="6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04D99"/>
                </a:solidFill>
                <a:latin typeface="Roboto"/>
                <a:ea typeface="Roboto"/>
                <a:cs typeface="Roboto"/>
                <a:sym typeface="Roboto"/>
              </a:rPr>
              <a:t>Social Security:</a:t>
            </a:r>
            <a:r>
              <a:rPr b="0" i="0" lang="en-US" sz="1500" u="none" cap="none" strike="noStrike">
                <a:solidFill>
                  <a:srgbClr val="1F2937"/>
                </a:solidFill>
                <a:latin typeface="Roboto"/>
                <a:ea typeface="Roboto"/>
                <a:cs typeface="Roboto"/>
                <a:sym typeface="Roboto"/>
              </a:rPr>
              <a:t> Guaranteeing 100 days of wage employment per rural household.</a:t>
            </a:r>
            <a:endParaRPr/>
          </a:p>
        </p:txBody>
      </p:sp>
      <p:sp>
        <p:nvSpPr>
          <p:cNvPr id="173" name="Google Shape;173;p14"/>
          <p:cNvSpPr txBox="1"/>
          <p:nvPr/>
        </p:nvSpPr>
        <p:spPr>
          <a:xfrm>
            <a:off x="489125" y="2676350"/>
            <a:ext cx="65724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04D99"/>
                </a:solidFill>
                <a:latin typeface="Roboto"/>
                <a:ea typeface="Roboto"/>
                <a:cs typeface="Roboto"/>
                <a:sym typeface="Roboto"/>
              </a:rPr>
              <a:t>Financial Scale:</a:t>
            </a:r>
            <a:r>
              <a:rPr b="0" i="0" lang="en-US" sz="1500" u="none" cap="none" strike="noStrike">
                <a:solidFill>
                  <a:srgbClr val="1F2937"/>
                </a:solidFill>
                <a:latin typeface="Roboto"/>
                <a:ea typeface="Roboto"/>
                <a:cs typeface="Roboto"/>
                <a:sym typeface="Roboto"/>
              </a:rPr>
              <a:t> Managing billions in funds across thousands of districts.</a:t>
            </a:r>
            <a:endParaRPr/>
          </a:p>
        </p:txBody>
      </p:sp>
      <p:sp>
        <p:nvSpPr>
          <p:cNvPr id="174" name="Google Shape;174;p14"/>
          <p:cNvSpPr txBox="1"/>
          <p:nvPr/>
        </p:nvSpPr>
        <p:spPr>
          <a:xfrm>
            <a:off x="489125" y="3171650"/>
            <a:ext cx="6572400" cy="6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04D99"/>
                </a:solidFill>
                <a:latin typeface="Roboto"/>
                <a:ea typeface="Roboto"/>
                <a:cs typeface="Roboto"/>
                <a:sym typeface="Roboto"/>
              </a:rPr>
              <a:t>Core Challenge:</a:t>
            </a:r>
            <a:r>
              <a:rPr b="0" i="0" lang="en-US" sz="1500" u="none" cap="none" strike="noStrike">
                <a:solidFill>
                  <a:srgbClr val="1F2937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b="1" i="0" lang="en-US" sz="1500" u="none" cap="none" strike="noStrike">
                <a:solidFill>
                  <a:srgbClr val="1F2937"/>
                </a:solidFill>
                <a:latin typeface="Roboto"/>
                <a:ea typeface="Roboto"/>
                <a:cs typeface="Roboto"/>
                <a:sym typeface="Roboto"/>
              </a:rPr>
              <a:t>Predicting Employment Demand</a:t>
            </a:r>
            <a:r>
              <a:rPr b="0" i="0" lang="en-US" sz="1500" u="none" cap="none" strike="noStrike">
                <a:solidFill>
                  <a:srgbClr val="1F2937"/>
                </a:solidFill>
                <a:latin typeface="Roboto"/>
                <a:ea typeface="Roboto"/>
                <a:cs typeface="Roboto"/>
                <a:sym typeface="Roboto"/>
              </a:rPr>
              <a:t> (Total Individuals Worked) to prevent fund scarcity and ensure timely wage payments.</a:t>
            </a:r>
            <a:endParaRPr/>
          </a:p>
        </p:txBody>
      </p:sp>
      <p:sp>
        <p:nvSpPr>
          <p:cNvPr id="175" name="Google Shape;175;p14"/>
          <p:cNvSpPr txBox="1"/>
          <p:nvPr/>
        </p:nvSpPr>
        <p:spPr>
          <a:xfrm>
            <a:off x="203375" y="495125"/>
            <a:ext cx="115254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004D99"/>
                </a:solidFill>
                <a:latin typeface="Montserrat"/>
                <a:ea typeface="Montserrat"/>
                <a:cs typeface="Montserrat"/>
                <a:sym typeface="Montserrat"/>
              </a:rPr>
              <a:t>Project Scope: Leveraging Government Data</a:t>
            </a:r>
            <a:endParaRPr/>
          </a:p>
        </p:txBody>
      </p:sp>
      <p:sp>
        <p:nvSpPr>
          <p:cNvPr id="176" name="Google Shape;176;p14"/>
          <p:cNvSpPr/>
          <p:nvPr/>
        </p:nvSpPr>
        <p:spPr>
          <a:xfrm>
            <a:off x="203375" y="1142825"/>
            <a:ext cx="12382500" cy="285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77" name="Google Shape;177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03375" y="1895300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8" name="Google Shape;178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03375" y="2714450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9" name="Google Shape;179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03375" y="3209750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0" name="Google Shape;180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648325" y="1314450"/>
            <a:ext cx="4286250" cy="5448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15"/>
          <p:cNvSpPr txBox="1"/>
          <p:nvPr/>
        </p:nvSpPr>
        <p:spPr>
          <a:xfrm>
            <a:off x="6533650" y="1267525"/>
            <a:ext cx="5143500" cy="69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50" u="none" cap="none" strike="noStrike">
                <a:solidFill>
                  <a:srgbClr val="004D99"/>
                </a:solidFill>
                <a:latin typeface="Montserrat"/>
                <a:ea typeface="Montserrat"/>
                <a:cs typeface="Montserrat"/>
                <a:sym typeface="Montserrat"/>
              </a:rPr>
              <a:t>Analysis of Total Expenditure (2018-2024)</a:t>
            </a:r>
            <a:endParaRPr/>
          </a:p>
        </p:txBody>
      </p:sp>
      <p:sp>
        <p:nvSpPr>
          <p:cNvPr id="186" name="Google Shape;186;p15"/>
          <p:cNvSpPr txBox="1"/>
          <p:nvPr/>
        </p:nvSpPr>
        <p:spPr>
          <a:xfrm>
            <a:off x="6819400" y="2115250"/>
            <a:ext cx="4857900" cy="6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04D99"/>
                </a:solidFill>
                <a:latin typeface="Roboto"/>
                <a:ea typeface="Roboto"/>
                <a:cs typeface="Roboto"/>
                <a:sym typeface="Roboto"/>
              </a:rPr>
              <a:t>Baseline Surge:</a:t>
            </a:r>
            <a:r>
              <a:rPr b="0" i="0" lang="en-US" sz="1500" u="none" cap="none" strike="noStrike">
                <a:solidFill>
                  <a:srgbClr val="1F2937"/>
                </a:solidFill>
                <a:latin typeface="Roboto"/>
                <a:ea typeface="Roboto"/>
                <a:cs typeface="Roboto"/>
                <a:sym typeface="Roboto"/>
              </a:rPr>
              <a:t> Expenditure was stable around </a:t>
            </a:r>
            <a:r>
              <a:rPr b="1" i="0" lang="en-US" sz="1500" u="none" cap="none" strike="noStrike">
                <a:solidFill>
                  <a:srgbClr val="1F2937"/>
                </a:solidFill>
                <a:latin typeface="Roboto"/>
                <a:ea typeface="Roboto"/>
                <a:cs typeface="Roboto"/>
                <a:sym typeface="Roboto"/>
              </a:rPr>
              <a:t>₹4.2 Cr </a:t>
            </a:r>
            <a:r>
              <a:rPr b="0" i="0" lang="en-US" sz="1500" u="none" cap="none" strike="noStrike">
                <a:solidFill>
                  <a:srgbClr val="1F2937"/>
                </a:solidFill>
                <a:latin typeface="Roboto"/>
                <a:ea typeface="Roboto"/>
                <a:cs typeface="Roboto"/>
                <a:sym typeface="Roboto"/>
              </a:rPr>
              <a:t>per year in 2018-2019.</a:t>
            </a:r>
            <a:endParaRPr/>
          </a:p>
        </p:txBody>
      </p:sp>
      <p:sp>
        <p:nvSpPr>
          <p:cNvPr id="187" name="Google Shape;187;p15"/>
          <p:cNvSpPr txBox="1"/>
          <p:nvPr/>
        </p:nvSpPr>
        <p:spPr>
          <a:xfrm>
            <a:off x="6819400" y="2934400"/>
            <a:ext cx="4857900" cy="140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04D99"/>
                </a:solidFill>
                <a:latin typeface="Roboto"/>
                <a:ea typeface="Roboto"/>
                <a:cs typeface="Roboto"/>
                <a:sym typeface="Roboto"/>
              </a:rPr>
              <a:t>The 2020-21 Spike:</a:t>
            </a:r>
            <a:r>
              <a:rPr b="0" i="0" lang="en-US" sz="1500" u="none" cap="none" strike="noStrike">
                <a:solidFill>
                  <a:srgbClr val="1F2937"/>
                </a:solidFill>
                <a:latin typeface="Roboto"/>
                <a:ea typeface="Roboto"/>
                <a:cs typeface="Roboto"/>
                <a:sym typeface="Roboto"/>
              </a:rPr>
              <a:t> Expenditure jumped to </a:t>
            </a:r>
            <a:r>
              <a:rPr b="1" i="0" lang="en-US" sz="1500" u="none" cap="none" strike="noStrike">
                <a:solidFill>
                  <a:srgbClr val="1F2937"/>
                </a:solidFill>
                <a:latin typeface="Roboto"/>
                <a:ea typeface="Roboto"/>
                <a:cs typeface="Roboto"/>
                <a:sym typeface="Roboto"/>
              </a:rPr>
              <a:t>₹7.35 Cr</a:t>
            </a:r>
            <a:r>
              <a:rPr lang="en-US" sz="1500">
                <a:solidFill>
                  <a:srgbClr val="1F2937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b="0" i="0" lang="en-US" sz="1500" u="none" cap="none" strike="noStrike">
                <a:solidFill>
                  <a:srgbClr val="1F2937"/>
                </a:solidFill>
                <a:latin typeface="Roboto"/>
                <a:ea typeface="Roboto"/>
                <a:cs typeface="Roboto"/>
                <a:sym typeface="Roboto"/>
              </a:rPr>
              <a:t>and peaked in 2021-22 at </a:t>
            </a:r>
            <a:r>
              <a:rPr b="1" i="0" lang="en-US" sz="1500" u="none" cap="none" strike="noStrike">
                <a:solidFill>
                  <a:srgbClr val="1F2937"/>
                </a:solidFill>
                <a:latin typeface="Roboto"/>
                <a:ea typeface="Roboto"/>
                <a:cs typeface="Roboto"/>
                <a:sym typeface="Roboto"/>
              </a:rPr>
              <a:t>₹7.46 Cr</a:t>
            </a:r>
            <a:r>
              <a:rPr b="0" i="0" lang="en-US" sz="1500" u="none" cap="none" strike="noStrike">
                <a:solidFill>
                  <a:srgbClr val="1F2937"/>
                </a:solidFill>
                <a:latin typeface="Roboto"/>
                <a:ea typeface="Roboto"/>
                <a:cs typeface="Roboto"/>
                <a:sym typeface="Roboto"/>
              </a:rPr>
              <a:t>. This reflects the dramatic increase in labor demand due to pandemic-related reverse migration.</a:t>
            </a:r>
            <a:endParaRPr/>
          </a:p>
        </p:txBody>
      </p:sp>
      <p:sp>
        <p:nvSpPr>
          <p:cNvPr id="188" name="Google Shape;188;p15"/>
          <p:cNvSpPr txBox="1"/>
          <p:nvPr/>
        </p:nvSpPr>
        <p:spPr>
          <a:xfrm>
            <a:off x="6819400" y="4401250"/>
            <a:ext cx="4857900" cy="140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04D99"/>
                </a:solidFill>
                <a:latin typeface="Roboto"/>
                <a:ea typeface="Roboto"/>
                <a:cs typeface="Roboto"/>
                <a:sym typeface="Roboto"/>
              </a:rPr>
              <a:t>Policy Constraint Concern:</a:t>
            </a:r>
            <a:r>
              <a:rPr b="0" i="0" lang="en-US" sz="1500" u="none" cap="none" strike="noStrike">
                <a:solidFill>
                  <a:srgbClr val="1F2937"/>
                </a:solidFill>
                <a:latin typeface="Roboto"/>
                <a:ea typeface="Roboto"/>
                <a:cs typeface="Roboto"/>
                <a:sym typeface="Roboto"/>
              </a:rPr>
              <a:t> Despite the peak, demand remains high. The post-peak drop to </a:t>
            </a:r>
            <a:r>
              <a:rPr b="1" i="0" lang="en-US" sz="1500" u="none" cap="none" strike="noStrike">
                <a:solidFill>
                  <a:srgbClr val="1F2937"/>
                </a:solidFill>
                <a:latin typeface="Roboto"/>
                <a:ea typeface="Roboto"/>
                <a:cs typeface="Roboto"/>
                <a:sym typeface="Roboto"/>
              </a:rPr>
              <a:t>₹6.7 Cr</a:t>
            </a:r>
            <a:r>
              <a:rPr b="0" i="0" lang="en-US" sz="1500" u="none" cap="none" strike="noStrike">
                <a:solidFill>
                  <a:srgbClr val="1F2937"/>
                </a:solidFill>
                <a:latin typeface="Roboto"/>
                <a:ea typeface="Roboto"/>
                <a:cs typeface="Roboto"/>
                <a:sym typeface="Roboto"/>
              </a:rPr>
              <a:t> in 2022-23 may suggest budgetary constraints rather than a return to normal demand.</a:t>
            </a:r>
            <a:endParaRPr/>
          </a:p>
        </p:txBody>
      </p:sp>
      <p:sp>
        <p:nvSpPr>
          <p:cNvPr id="189" name="Google Shape;189;p15"/>
          <p:cNvSpPr txBox="1"/>
          <p:nvPr/>
        </p:nvSpPr>
        <p:spPr>
          <a:xfrm>
            <a:off x="151900" y="400750"/>
            <a:ext cx="115254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004D99"/>
                </a:solidFill>
                <a:latin typeface="Montserrat"/>
                <a:ea typeface="Montserrat"/>
                <a:cs typeface="Montserrat"/>
                <a:sym typeface="Montserrat"/>
              </a:rPr>
              <a:t>EDA: National Trends - The COVID-19 Impact</a:t>
            </a:r>
            <a:endParaRPr/>
          </a:p>
        </p:txBody>
      </p:sp>
      <p:sp>
        <p:nvSpPr>
          <p:cNvPr id="190" name="Google Shape;190;p15"/>
          <p:cNvSpPr/>
          <p:nvPr/>
        </p:nvSpPr>
        <p:spPr>
          <a:xfrm>
            <a:off x="151900" y="1048450"/>
            <a:ext cx="12382500" cy="285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91" name="Google Shape;191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33650" y="2153350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2" name="Google Shape;192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33650" y="2972500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3" name="Google Shape;193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33650" y="4439350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4" name="Google Shape;194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1900" y="1750125"/>
            <a:ext cx="6172124" cy="4009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16"/>
          <p:cNvSpPr txBox="1"/>
          <p:nvPr/>
        </p:nvSpPr>
        <p:spPr>
          <a:xfrm>
            <a:off x="289200" y="417900"/>
            <a:ext cx="115254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400" u="none" cap="none" strike="noStrike">
                <a:solidFill>
                  <a:srgbClr val="004D99"/>
                </a:solidFill>
                <a:latin typeface="Montserrat"/>
                <a:ea typeface="Montserrat"/>
                <a:cs typeface="Montserrat"/>
                <a:sym typeface="Montserrat"/>
              </a:rPr>
              <a:t>EDA: Administrative Efficiency - Timely Payments</a:t>
            </a:r>
            <a:endParaRPr sz="1200"/>
          </a:p>
        </p:txBody>
      </p:sp>
      <p:sp>
        <p:nvSpPr>
          <p:cNvPr id="200" name="Google Shape;200;p16"/>
          <p:cNvSpPr/>
          <p:nvPr/>
        </p:nvSpPr>
        <p:spPr>
          <a:xfrm>
            <a:off x="289200" y="1065600"/>
            <a:ext cx="12382500" cy="285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16"/>
          <p:cNvSpPr txBox="1"/>
          <p:nvPr/>
        </p:nvSpPr>
        <p:spPr>
          <a:xfrm>
            <a:off x="289200" y="1284675"/>
            <a:ext cx="51435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50">
                <a:solidFill>
                  <a:srgbClr val="004D99"/>
                </a:solidFill>
                <a:latin typeface="Montserrat"/>
                <a:ea typeface="Montserrat"/>
                <a:cs typeface="Montserrat"/>
                <a:sym typeface="Montserrat"/>
              </a:rPr>
              <a:t>Payment Efficiency Metric</a:t>
            </a:r>
            <a:endParaRPr b="1" sz="2250">
              <a:solidFill>
                <a:srgbClr val="004D99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>
                <a:solidFill>
                  <a:srgbClr val="1F2937"/>
                </a:solidFill>
                <a:latin typeface="Roboto"/>
                <a:ea typeface="Roboto"/>
                <a:cs typeface="Roboto"/>
                <a:sym typeface="Roboto"/>
              </a:rPr>
              <a:t>Percentage of payments generated within 15 days.</a:t>
            </a:r>
            <a:endParaRPr b="1" sz="2250">
              <a:solidFill>
                <a:srgbClr val="004D99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02" name="Google Shape;202;p16"/>
          <p:cNvSpPr txBox="1"/>
          <p:nvPr/>
        </p:nvSpPr>
        <p:spPr>
          <a:xfrm>
            <a:off x="574950" y="2132400"/>
            <a:ext cx="48579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004D99"/>
                </a:solidFill>
                <a:latin typeface="Roboto"/>
                <a:ea typeface="Roboto"/>
                <a:cs typeface="Roboto"/>
                <a:sym typeface="Roboto"/>
              </a:rPr>
              <a:t>Ideal Scenario:</a:t>
            </a:r>
            <a:r>
              <a:rPr b="0" i="0" lang="en-US" sz="1500" u="none" cap="none" strike="noStrike">
                <a:solidFill>
                  <a:srgbClr val="1F2937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500">
                <a:solidFill>
                  <a:srgbClr val="1F2937"/>
                </a:solidFill>
                <a:latin typeface="Roboto"/>
                <a:ea typeface="Roboto"/>
                <a:cs typeface="Roboto"/>
                <a:sym typeface="Roboto"/>
              </a:rPr>
              <a:t>This metric should be consistently near 100% to ensure worker liquidity and compliance with the Act.</a:t>
            </a:r>
            <a:endParaRPr/>
          </a:p>
        </p:txBody>
      </p:sp>
      <p:sp>
        <p:nvSpPr>
          <p:cNvPr id="203" name="Google Shape;203;p16"/>
          <p:cNvSpPr txBox="1"/>
          <p:nvPr/>
        </p:nvSpPr>
        <p:spPr>
          <a:xfrm>
            <a:off x="574950" y="3180150"/>
            <a:ext cx="4857900" cy="1800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004D99"/>
                </a:solidFill>
                <a:latin typeface="Roboto"/>
                <a:ea typeface="Roboto"/>
                <a:cs typeface="Roboto"/>
                <a:sym typeface="Roboto"/>
              </a:rPr>
              <a:t>Observed Fluctuation:</a:t>
            </a:r>
            <a:r>
              <a:rPr b="0" i="0" lang="en-US" sz="1500" u="none" cap="none" strike="noStrike">
                <a:solidFill>
                  <a:srgbClr val="1F2937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500">
                <a:solidFill>
                  <a:srgbClr val="1F2937"/>
                </a:solidFill>
                <a:latin typeface="Roboto"/>
                <a:ea typeface="Roboto"/>
                <a:cs typeface="Roboto"/>
                <a:sym typeface="Roboto"/>
              </a:rPr>
              <a:t>This percentage shows high volatility across states and months, often dipping well below 50% in certain regions, indicating major bottlenecks in the administrative workflow.</a:t>
            </a:r>
            <a:endParaRPr sz="1500">
              <a:solidFill>
                <a:srgbClr val="1F2937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1F2937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descr="image.png" id="204" name="Google Shape;204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89200" y="2170500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5" name="Google Shape;205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89200" y="3218250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6" name="Google Shape;206;p16"/>
          <p:cNvPicPr preferRelativeResize="0"/>
          <p:nvPr/>
        </p:nvPicPr>
        <p:blipFill rotWithShape="1">
          <a:blip r:embed="rId4">
            <a:alphaModFix/>
          </a:blip>
          <a:srcRect b="0" l="67167" r="0" t="11300"/>
          <a:stretch/>
        </p:blipFill>
        <p:spPr>
          <a:xfrm>
            <a:off x="5432850" y="1137075"/>
            <a:ext cx="4446976" cy="2812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7" name="Google Shape;207;p16"/>
          <p:cNvPicPr preferRelativeResize="0"/>
          <p:nvPr/>
        </p:nvPicPr>
        <p:blipFill rotWithShape="1">
          <a:blip r:embed="rId5">
            <a:alphaModFix/>
          </a:blip>
          <a:srcRect b="0" l="0" r="49909" t="68049"/>
          <a:stretch/>
        </p:blipFill>
        <p:spPr>
          <a:xfrm>
            <a:off x="7745025" y="3949750"/>
            <a:ext cx="4446975" cy="28982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12" name="Google Shape;212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078975" y="1683374"/>
            <a:ext cx="3333750" cy="33337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3" name="Google Shape;213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793350" y="2397750"/>
            <a:ext cx="1905000" cy="1905000"/>
          </a:xfrm>
          <a:prstGeom prst="rect">
            <a:avLst/>
          </a:prstGeom>
          <a:noFill/>
          <a:ln>
            <a:noFill/>
          </a:ln>
        </p:spPr>
      </p:pic>
      <p:sp>
        <p:nvSpPr>
          <p:cNvPr id="214" name="Google Shape;214;p17"/>
          <p:cNvSpPr txBox="1"/>
          <p:nvPr/>
        </p:nvSpPr>
        <p:spPr>
          <a:xfrm>
            <a:off x="349250" y="1552400"/>
            <a:ext cx="5600700" cy="34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50" u="none" cap="none" strike="noStrike">
                <a:solidFill>
                  <a:srgbClr val="004D99"/>
                </a:solidFill>
                <a:latin typeface="Montserrat"/>
                <a:ea typeface="Montserrat"/>
                <a:cs typeface="Montserrat"/>
                <a:sym typeface="Montserrat"/>
              </a:rPr>
              <a:t>The Reality vs. The Promise</a:t>
            </a:r>
            <a:endParaRPr/>
          </a:p>
        </p:txBody>
      </p:sp>
      <p:sp>
        <p:nvSpPr>
          <p:cNvPr id="215" name="Google Shape;215;p17"/>
          <p:cNvSpPr txBox="1"/>
          <p:nvPr/>
        </p:nvSpPr>
        <p:spPr>
          <a:xfrm>
            <a:off x="349250" y="2047700"/>
            <a:ext cx="5334000" cy="6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1F2937"/>
                </a:solidFill>
                <a:latin typeface="Roboto"/>
                <a:ea typeface="Roboto"/>
                <a:cs typeface="Roboto"/>
                <a:sym typeface="Roboto"/>
              </a:rPr>
              <a:t>The core promise is 100 days of employment per household. Our analysis quantifies the achievement gap:</a:t>
            </a:r>
            <a:endParaRPr/>
          </a:p>
        </p:txBody>
      </p:sp>
      <p:sp>
        <p:nvSpPr>
          <p:cNvPr id="216" name="Google Shape;216;p17"/>
          <p:cNvSpPr txBox="1"/>
          <p:nvPr/>
        </p:nvSpPr>
        <p:spPr>
          <a:xfrm>
            <a:off x="6355150" y="5263912"/>
            <a:ext cx="4953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u="none" cap="none" strike="noStrike">
                <a:solidFill>
                  <a:srgbClr val="1F2937"/>
                </a:solidFill>
                <a:latin typeface="Roboto"/>
                <a:ea typeface="Roboto"/>
                <a:cs typeface="Roboto"/>
                <a:sym typeface="Roboto"/>
              </a:rPr>
              <a:t>Only 2.1% of households complete the 100-day guarantee.</a:t>
            </a:r>
            <a:endParaRPr sz="1300"/>
          </a:p>
        </p:txBody>
      </p:sp>
      <p:sp>
        <p:nvSpPr>
          <p:cNvPr id="217" name="Google Shape;217;p17"/>
          <p:cNvSpPr txBox="1"/>
          <p:nvPr/>
        </p:nvSpPr>
        <p:spPr>
          <a:xfrm>
            <a:off x="635000" y="2695400"/>
            <a:ext cx="5048400" cy="6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04D99"/>
                </a:solidFill>
                <a:latin typeface="Roboto"/>
                <a:ea typeface="Roboto"/>
                <a:cs typeface="Roboto"/>
                <a:sym typeface="Roboto"/>
              </a:rPr>
              <a:t>Households Achieving 100 Days:</a:t>
            </a:r>
            <a:r>
              <a:rPr b="0" i="0" lang="en-US" sz="1500" u="none" cap="none" strike="noStrike">
                <a:solidFill>
                  <a:srgbClr val="1F2937"/>
                </a:solidFill>
                <a:latin typeface="Roboto"/>
                <a:ea typeface="Roboto"/>
                <a:cs typeface="Roboto"/>
                <a:sym typeface="Roboto"/>
              </a:rPr>
              <a:t> Approximately </a:t>
            </a:r>
            <a:r>
              <a:rPr b="1" i="0" lang="en-US" sz="1500" u="none" cap="none" strike="noStrike">
                <a:solidFill>
                  <a:srgbClr val="1F2937"/>
                </a:solidFill>
                <a:latin typeface="Roboto"/>
                <a:ea typeface="Roboto"/>
                <a:cs typeface="Roboto"/>
                <a:sym typeface="Roboto"/>
              </a:rPr>
              <a:t>2.1%</a:t>
            </a:r>
            <a:r>
              <a:rPr b="1" lang="en-US" sz="1500">
                <a:solidFill>
                  <a:srgbClr val="1F2937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b="0" i="0" lang="en-US" sz="1500" u="none" cap="none" strike="noStrike">
                <a:solidFill>
                  <a:srgbClr val="1F2937"/>
                </a:solidFill>
                <a:latin typeface="Roboto"/>
                <a:ea typeface="Roboto"/>
                <a:cs typeface="Roboto"/>
                <a:sym typeface="Roboto"/>
              </a:rPr>
              <a:t>(national average).</a:t>
            </a:r>
            <a:endParaRPr/>
          </a:p>
        </p:txBody>
      </p:sp>
      <p:sp>
        <p:nvSpPr>
          <p:cNvPr id="218" name="Google Shape;218;p17"/>
          <p:cNvSpPr txBox="1"/>
          <p:nvPr/>
        </p:nvSpPr>
        <p:spPr>
          <a:xfrm>
            <a:off x="635000" y="3514550"/>
            <a:ext cx="50484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04D99"/>
                </a:solidFill>
                <a:latin typeface="Roboto"/>
                <a:ea typeface="Roboto"/>
                <a:cs typeface="Roboto"/>
                <a:sym typeface="Roboto"/>
              </a:rPr>
              <a:t>Households Failing to Achieve:</a:t>
            </a:r>
            <a:r>
              <a:rPr b="0" i="0" lang="en-US" sz="1500" u="none" cap="none" strike="noStrike">
                <a:solidFill>
                  <a:srgbClr val="1F2937"/>
                </a:solidFill>
                <a:latin typeface="Roboto"/>
                <a:ea typeface="Roboto"/>
                <a:cs typeface="Roboto"/>
                <a:sym typeface="Roboto"/>
              </a:rPr>
              <a:t> Approximately </a:t>
            </a:r>
            <a:r>
              <a:rPr b="1" i="0" lang="en-US" sz="1500" u="none" cap="none" strike="noStrike">
                <a:solidFill>
                  <a:srgbClr val="1F2937"/>
                </a:solidFill>
                <a:latin typeface="Roboto"/>
                <a:ea typeface="Roboto"/>
                <a:cs typeface="Roboto"/>
                <a:sym typeface="Roboto"/>
              </a:rPr>
              <a:t>97.9%</a:t>
            </a:r>
            <a:r>
              <a:rPr b="0" i="0" lang="en-US" sz="1500" u="none" cap="none" strike="noStrike">
                <a:solidFill>
                  <a:srgbClr val="1F2937"/>
                </a:solidFill>
                <a:latin typeface="Roboto"/>
                <a:ea typeface="Roboto"/>
                <a:cs typeface="Roboto"/>
                <a:sym typeface="Roboto"/>
              </a:rPr>
              <a:t>.</a:t>
            </a:r>
            <a:endParaRPr/>
          </a:p>
        </p:txBody>
      </p:sp>
      <p:sp>
        <p:nvSpPr>
          <p:cNvPr id="219" name="Google Shape;219;p17"/>
          <p:cNvSpPr txBox="1"/>
          <p:nvPr/>
        </p:nvSpPr>
        <p:spPr>
          <a:xfrm>
            <a:off x="635000" y="4009850"/>
            <a:ext cx="50484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04D99"/>
                </a:solidFill>
                <a:latin typeface="Roboto"/>
                <a:ea typeface="Roboto"/>
                <a:cs typeface="Roboto"/>
                <a:sym typeface="Roboto"/>
              </a:rPr>
              <a:t>Analysis:</a:t>
            </a:r>
            <a:r>
              <a:rPr b="0" i="0" lang="en-US" sz="1500" u="none" cap="none" strike="noStrike">
                <a:solidFill>
                  <a:srgbClr val="1F2937"/>
                </a:solidFill>
                <a:latin typeface="Roboto"/>
                <a:ea typeface="Roboto"/>
                <a:cs typeface="Roboto"/>
                <a:sym typeface="Roboto"/>
              </a:rPr>
              <a:t> This finding confirms that the scheme primarily functions as supplementary, short-term relief rather than a full 100-day safety net for the vast majority of households.</a:t>
            </a:r>
            <a:endParaRPr/>
          </a:p>
        </p:txBody>
      </p:sp>
      <p:sp>
        <p:nvSpPr>
          <p:cNvPr id="220" name="Google Shape;220;p17"/>
          <p:cNvSpPr txBox="1"/>
          <p:nvPr/>
        </p:nvSpPr>
        <p:spPr>
          <a:xfrm>
            <a:off x="349250" y="495125"/>
            <a:ext cx="115254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004D99"/>
                </a:solidFill>
                <a:latin typeface="Montserrat"/>
                <a:ea typeface="Montserrat"/>
                <a:cs typeface="Montserrat"/>
                <a:sym typeface="Montserrat"/>
              </a:rPr>
              <a:t>EDA: The 100-Day Guarantee - A National Gap</a:t>
            </a:r>
            <a:endParaRPr/>
          </a:p>
        </p:txBody>
      </p:sp>
      <p:sp>
        <p:nvSpPr>
          <p:cNvPr id="221" name="Google Shape;221;p17"/>
          <p:cNvSpPr/>
          <p:nvPr/>
        </p:nvSpPr>
        <p:spPr>
          <a:xfrm>
            <a:off x="349250" y="1142825"/>
            <a:ext cx="12382500" cy="285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222" name="Google Shape;222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49250" y="2733500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3" name="Google Shape;223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49250" y="3552650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4" name="Google Shape;224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49250" y="4047950"/>
            <a:ext cx="190500" cy="200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18"/>
          <p:cNvSpPr txBox="1"/>
          <p:nvPr/>
        </p:nvSpPr>
        <p:spPr>
          <a:xfrm>
            <a:off x="7399475" y="1198875"/>
            <a:ext cx="4286400" cy="69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50" u="none" cap="none" strike="noStrike">
                <a:solidFill>
                  <a:srgbClr val="004D99"/>
                </a:solidFill>
                <a:latin typeface="Montserrat"/>
                <a:ea typeface="Montserrat"/>
                <a:cs typeface="Montserrat"/>
                <a:sym typeface="Montserrat"/>
              </a:rPr>
              <a:t>Regional Success Stories in Gender Equity</a:t>
            </a:r>
            <a:endParaRPr/>
          </a:p>
        </p:txBody>
      </p:sp>
      <p:sp>
        <p:nvSpPr>
          <p:cNvPr id="230" name="Google Shape;230;p18"/>
          <p:cNvSpPr txBox="1"/>
          <p:nvPr/>
        </p:nvSpPr>
        <p:spPr>
          <a:xfrm>
            <a:off x="7685225" y="2046600"/>
            <a:ext cx="4000500" cy="6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04D99"/>
                </a:solidFill>
                <a:latin typeface="Roboto"/>
                <a:ea typeface="Roboto"/>
                <a:cs typeface="Roboto"/>
                <a:sym typeface="Roboto"/>
              </a:rPr>
              <a:t>Target:</a:t>
            </a:r>
            <a:r>
              <a:rPr b="0" i="0" lang="en-US" sz="1500" u="none" cap="none" strike="noStrike">
                <a:solidFill>
                  <a:srgbClr val="1F2937"/>
                </a:solidFill>
                <a:latin typeface="Roboto"/>
                <a:ea typeface="Roboto"/>
                <a:cs typeface="Roboto"/>
                <a:sym typeface="Roboto"/>
              </a:rPr>
              <a:t> The scheme targets at least 33% participation from women.</a:t>
            </a:r>
            <a:endParaRPr/>
          </a:p>
        </p:txBody>
      </p:sp>
      <p:sp>
        <p:nvSpPr>
          <p:cNvPr id="231" name="Google Shape;231;p18"/>
          <p:cNvSpPr txBox="1"/>
          <p:nvPr/>
        </p:nvSpPr>
        <p:spPr>
          <a:xfrm>
            <a:off x="7685225" y="2865750"/>
            <a:ext cx="40005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04D99"/>
                </a:solidFill>
                <a:latin typeface="Roboto"/>
                <a:ea typeface="Roboto"/>
                <a:cs typeface="Roboto"/>
                <a:sym typeface="Roboto"/>
              </a:rPr>
              <a:t>Top Performers:</a:t>
            </a:r>
            <a:r>
              <a:rPr b="0" i="0" lang="en-US" sz="1500" u="none" cap="none" strike="noStrike">
                <a:solidFill>
                  <a:srgbClr val="1F2937"/>
                </a:solidFill>
                <a:latin typeface="Roboto"/>
                <a:ea typeface="Roboto"/>
                <a:cs typeface="Roboto"/>
                <a:sym typeface="Roboto"/>
              </a:rPr>
              <a:t> States in the South (e.g., </a:t>
            </a:r>
            <a:r>
              <a:rPr b="1" i="0" lang="en-US" sz="1500" u="none" cap="none" strike="noStrike">
                <a:solidFill>
                  <a:srgbClr val="1F2937"/>
                </a:solidFill>
                <a:latin typeface="Roboto"/>
                <a:ea typeface="Roboto"/>
                <a:cs typeface="Roboto"/>
                <a:sym typeface="Roboto"/>
              </a:rPr>
              <a:t>K</a:t>
            </a:r>
            <a:r>
              <a:rPr b="1" i="0" lang="en-US" sz="1500" u="none" cap="none" strike="noStrike">
                <a:solidFill>
                  <a:srgbClr val="1F2937"/>
                </a:solidFill>
                <a:latin typeface="Roboto"/>
                <a:ea typeface="Roboto"/>
                <a:cs typeface="Roboto"/>
                <a:sym typeface="Roboto"/>
              </a:rPr>
              <a:t>erala</a:t>
            </a:r>
            <a:r>
              <a:rPr b="0" i="0" lang="en-US" sz="1500" u="none" cap="none" strike="noStrike">
                <a:solidFill>
                  <a:srgbClr val="1F2937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b="0" i="0" lang="en-US" sz="1500" u="none" cap="none" strike="noStrike">
                <a:solidFill>
                  <a:srgbClr val="1F2937"/>
                </a:solidFill>
                <a:latin typeface="Roboto"/>
                <a:ea typeface="Roboto"/>
                <a:cs typeface="Roboto"/>
                <a:sym typeface="Roboto"/>
              </a:rPr>
              <a:t>and </a:t>
            </a:r>
            <a:r>
              <a:rPr b="1" i="0" lang="en-US" sz="1500" u="none" cap="none" strike="noStrike">
                <a:solidFill>
                  <a:srgbClr val="1F2937"/>
                </a:solidFill>
                <a:latin typeface="Roboto"/>
                <a:ea typeface="Roboto"/>
                <a:cs typeface="Roboto"/>
                <a:sym typeface="Roboto"/>
              </a:rPr>
              <a:t>Tamil Nadu</a:t>
            </a:r>
            <a:r>
              <a:rPr b="0" i="0" lang="en-US" sz="1500" u="none" cap="none" strike="noStrike">
                <a:solidFill>
                  <a:srgbClr val="1F2937"/>
                </a:solidFill>
                <a:latin typeface="Roboto"/>
                <a:ea typeface="Roboto"/>
                <a:cs typeface="Roboto"/>
                <a:sym typeface="Roboto"/>
              </a:rPr>
              <a:t>) consistently show a ratio </a:t>
            </a:r>
            <a:r>
              <a:rPr b="1" i="0" lang="en-US" sz="1500" u="none" cap="none" strike="noStrike">
                <a:solidFill>
                  <a:srgbClr val="1F2937"/>
                </a:solidFill>
                <a:latin typeface="Roboto"/>
                <a:ea typeface="Roboto"/>
                <a:cs typeface="Roboto"/>
                <a:sym typeface="Roboto"/>
              </a:rPr>
              <a:t>above 70%</a:t>
            </a:r>
            <a:r>
              <a:rPr b="0" i="0" lang="en-US" sz="1500" u="none" cap="none" strike="noStrike">
                <a:solidFill>
                  <a:srgbClr val="1F2937"/>
                </a:solidFill>
                <a:latin typeface="Roboto"/>
                <a:ea typeface="Roboto"/>
                <a:cs typeface="Roboto"/>
                <a:sym typeface="Roboto"/>
              </a:rPr>
              <a:t>.</a:t>
            </a:r>
            <a:endParaRPr/>
          </a:p>
        </p:txBody>
      </p:sp>
      <p:sp>
        <p:nvSpPr>
          <p:cNvPr id="232" name="Google Shape;232;p18"/>
          <p:cNvSpPr txBox="1"/>
          <p:nvPr/>
        </p:nvSpPr>
        <p:spPr>
          <a:xfrm>
            <a:off x="7685225" y="4008750"/>
            <a:ext cx="4000500" cy="6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04D99"/>
                </a:solidFill>
                <a:latin typeface="Roboto"/>
                <a:ea typeface="Roboto"/>
                <a:cs typeface="Roboto"/>
                <a:sym typeface="Roboto"/>
              </a:rPr>
              <a:t>Lagging Regions:</a:t>
            </a:r>
            <a:r>
              <a:rPr b="0" i="0" lang="en-US" sz="1500" u="none" cap="none" strike="noStrike">
                <a:solidFill>
                  <a:srgbClr val="1F2937"/>
                </a:solidFill>
                <a:latin typeface="Roboto"/>
                <a:ea typeface="Roboto"/>
                <a:cs typeface="Roboto"/>
                <a:sym typeface="Roboto"/>
              </a:rPr>
              <a:t> States in the North often struggle to meet the 33% target.</a:t>
            </a:r>
            <a:endParaRPr/>
          </a:p>
        </p:txBody>
      </p:sp>
      <p:sp>
        <p:nvSpPr>
          <p:cNvPr id="233" name="Google Shape;233;p18"/>
          <p:cNvSpPr txBox="1"/>
          <p:nvPr/>
        </p:nvSpPr>
        <p:spPr>
          <a:xfrm>
            <a:off x="7685225" y="4827900"/>
            <a:ext cx="4000500" cy="140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04D99"/>
                </a:solidFill>
                <a:latin typeface="Roboto"/>
                <a:ea typeface="Roboto"/>
                <a:cs typeface="Roboto"/>
                <a:sym typeface="Roboto"/>
              </a:rPr>
              <a:t>Policy Implication:</a:t>
            </a:r>
            <a:r>
              <a:rPr b="0" i="0" lang="en-US" sz="1500" u="none" cap="none" strike="noStrike">
                <a:solidFill>
                  <a:srgbClr val="1F2937"/>
                </a:solidFill>
                <a:latin typeface="Roboto"/>
                <a:ea typeface="Roboto"/>
                <a:cs typeface="Roboto"/>
                <a:sym typeface="Roboto"/>
              </a:rPr>
              <a:t> The successful models of social mobilization used in states like Kerala can be analyzed and replicated to boost female workforce participation nationally.</a:t>
            </a:r>
            <a:endParaRPr/>
          </a:p>
        </p:txBody>
      </p:sp>
      <p:sp>
        <p:nvSpPr>
          <p:cNvPr id="234" name="Google Shape;234;p18"/>
          <p:cNvSpPr txBox="1"/>
          <p:nvPr/>
        </p:nvSpPr>
        <p:spPr>
          <a:xfrm>
            <a:off x="160475" y="332100"/>
            <a:ext cx="11525400" cy="5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500" u="none" cap="none" strike="noStrike">
                <a:solidFill>
                  <a:srgbClr val="004D99"/>
                </a:solidFill>
                <a:latin typeface="Montserrat"/>
                <a:ea typeface="Montserrat"/>
                <a:cs typeface="Montserrat"/>
                <a:sym typeface="Montserrat"/>
              </a:rPr>
              <a:t>EDA: Social Inclusion - Women Persondays Ratio</a:t>
            </a:r>
            <a:endParaRPr sz="1300"/>
          </a:p>
        </p:txBody>
      </p:sp>
      <p:sp>
        <p:nvSpPr>
          <p:cNvPr id="235" name="Google Shape;235;p18"/>
          <p:cNvSpPr/>
          <p:nvPr/>
        </p:nvSpPr>
        <p:spPr>
          <a:xfrm>
            <a:off x="160475" y="979800"/>
            <a:ext cx="12382500" cy="285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236" name="Google Shape;236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399475" y="2084700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7" name="Google Shape;237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399475" y="2903850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8" name="Google Shape;238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399475" y="4046850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9" name="Google Shape;239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399475" y="4866000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40" name="Google Shape;240;p18"/>
          <p:cNvPicPr preferRelativeResize="0"/>
          <p:nvPr/>
        </p:nvPicPr>
        <p:blipFill rotWithShape="1">
          <a:blip r:embed="rId4">
            <a:alphaModFix/>
          </a:blip>
          <a:srcRect b="0" l="49672" r="0" t="68019"/>
          <a:stretch/>
        </p:blipFill>
        <p:spPr>
          <a:xfrm>
            <a:off x="160475" y="1198875"/>
            <a:ext cx="6808451" cy="49706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4D99"/>
        </a:solidFill>
      </p:bgPr>
    </p:bg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19"/>
          <p:cNvSpPr txBox="1"/>
          <p:nvPr/>
        </p:nvSpPr>
        <p:spPr>
          <a:xfrm>
            <a:off x="942975" y="2699772"/>
            <a:ext cx="10401300" cy="69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5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Predictive Modeling Methodology</a:t>
            </a:r>
            <a:endParaRPr/>
          </a:p>
        </p:txBody>
      </p:sp>
      <p:sp>
        <p:nvSpPr>
          <p:cNvPr id="246" name="Google Shape;246;p19"/>
          <p:cNvSpPr txBox="1"/>
          <p:nvPr/>
        </p:nvSpPr>
        <p:spPr>
          <a:xfrm>
            <a:off x="847725" y="3395097"/>
            <a:ext cx="10325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C3E2FF"/>
                </a:solidFill>
                <a:latin typeface="Roboto"/>
                <a:ea typeface="Roboto"/>
                <a:cs typeface="Roboto"/>
                <a:sym typeface="Roboto"/>
              </a:rPr>
              <a:t>Target: Forecast 'Total_Individuals_Worked' using High-Performance, Optimized ML/DL.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51" name="Google Shape;251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4675" y="1200150"/>
            <a:ext cx="6000750" cy="49053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52" name="Google Shape;252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456425" y="1200150"/>
            <a:ext cx="5572274" cy="4905375"/>
          </a:xfrm>
          <a:prstGeom prst="rect">
            <a:avLst/>
          </a:prstGeom>
          <a:noFill/>
          <a:ln>
            <a:noFill/>
          </a:ln>
        </p:spPr>
      </p:pic>
      <p:sp>
        <p:nvSpPr>
          <p:cNvPr id="253" name="Google Shape;253;p20"/>
          <p:cNvSpPr txBox="1"/>
          <p:nvPr/>
        </p:nvSpPr>
        <p:spPr>
          <a:xfrm>
            <a:off x="503300" y="6391275"/>
            <a:ext cx="115254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500" u="none" cap="none" strike="noStrike">
                <a:solidFill>
                  <a:srgbClr val="1F2937"/>
                </a:solidFill>
                <a:latin typeface="Roboto"/>
                <a:ea typeface="Roboto"/>
                <a:cs typeface="Roboto"/>
                <a:sym typeface="Roboto"/>
              </a:rPr>
              <a:t>All models were evaluated via 5-Fold Cross-Validation for robust, generalized performance metrics.</a:t>
            </a:r>
            <a:endParaRPr/>
          </a:p>
        </p:txBody>
      </p:sp>
      <p:sp>
        <p:nvSpPr>
          <p:cNvPr id="254" name="Google Shape;254;p20"/>
          <p:cNvSpPr txBox="1"/>
          <p:nvPr/>
        </p:nvSpPr>
        <p:spPr>
          <a:xfrm>
            <a:off x="408050" y="1485900"/>
            <a:ext cx="5650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38BDF8"/>
                </a:solidFill>
                <a:latin typeface="Montserrat"/>
                <a:ea typeface="Montserrat"/>
                <a:cs typeface="Montserrat"/>
                <a:sym typeface="Montserrat"/>
              </a:rPr>
              <a:t>Efficient ML (Ensemble)</a:t>
            </a:r>
            <a:endParaRPr/>
          </a:p>
        </p:txBody>
      </p:sp>
      <p:sp>
        <p:nvSpPr>
          <p:cNvPr id="255" name="Google Shape;255;p20"/>
          <p:cNvSpPr txBox="1"/>
          <p:nvPr/>
        </p:nvSpPr>
        <p:spPr>
          <a:xfrm>
            <a:off x="408050" y="1905000"/>
            <a:ext cx="53817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1F2937"/>
                </a:solidFill>
                <a:latin typeface="Roboto"/>
                <a:ea typeface="Roboto"/>
                <a:cs typeface="Roboto"/>
                <a:sym typeface="Roboto"/>
              </a:rPr>
              <a:t>Models:</a:t>
            </a:r>
            <a:r>
              <a:rPr b="0" i="0" lang="en-US" sz="1350" u="none" cap="none" strike="noStrike">
                <a:solidFill>
                  <a:srgbClr val="1F2937"/>
                </a:solidFill>
                <a:latin typeface="Roboto"/>
                <a:ea typeface="Roboto"/>
                <a:cs typeface="Roboto"/>
                <a:sym typeface="Roboto"/>
              </a:rPr>
              <a:t> LightGBM, XGBoost, Linear Regression (Baseline).</a:t>
            </a:r>
            <a:endParaRPr/>
          </a:p>
        </p:txBody>
      </p:sp>
      <p:sp>
        <p:nvSpPr>
          <p:cNvPr id="256" name="Google Shape;256;p20"/>
          <p:cNvSpPr txBox="1"/>
          <p:nvPr/>
        </p:nvSpPr>
        <p:spPr>
          <a:xfrm>
            <a:off x="408050" y="2407430"/>
            <a:ext cx="53817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1F2937"/>
                </a:solidFill>
                <a:latin typeface="Roboto"/>
                <a:ea typeface="Roboto"/>
                <a:cs typeface="Roboto"/>
                <a:sym typeface="Roboto"/>
              </a:rPr>
              <a:t>Optimization:</a:t>
            </a:r>
            <a:r>
              <a:rPr b="0" i="0" lang="en-US" sz="1350" u="none" cap="none" strike="noStrike">
                <a:solidFill>
                  <a:srgbClr val="1F2937"/>
                </a:solidFill>
                <a:latin typeface="Roboto"/>
                <a:ea typeface="Roboto"/>
                <a:cs typeface="Roboto"/>
                <a:sym typeface="Roboto"/>
              </a:rPr>
              <a:t> Full CPU parallelism  and </a:t>
            </a:r>
            <a:r>
              <a:rPr b="1" i="0" lang="en-US" sz="1350" u="none" cap="none" strike="noStrike">
                <a:solidFill>
                  <a:srgbClr val="1F2937"/>
                </a:solidFill>
                <a:latin typeface="Roboto"/>
                <a:ea typeface="Roboto"/>
                <a:cs typeface="Roboto"/>
                <a:sym typeface="Roboto"/>
              </a:rPr>
              <a:t>GPU acceleration</a:t>
            </a:r>
            <a:r>
              <a:rPr b="0" i="0" lang="en-US" sz="1350" u="none" cap="none" strike="noStrike">
                <a:solidFill>
                  <a:srgbClr val="1F2937"/>
                </a:solidFill>
                <a:latin typeface="Roboto"/>
                <a:ea typeface="Roboto"/>
                <a:cs typeface="Roboto"/>
                <a:sym typeface="Roboto"/>
              </a:rPr>
              <a:t> (for LightGBM/XGBoost, where compatible) for rapid training on 300k+ rows.</a:t>
            </a:r>
            <a:endParaRPr/>
          </a:p>
        </p:txBody>
      </p:sp>
      <p:sp>
        <p:nvSpPr>
          <p:cNvPr id="257" name="Google Shape;257;p20"/>
          <p:cNvSpPr txBox="1"/>
          <p:nvPr/>
        </p:nvSpPr>
        <p:spPr>
          <a:xfrm>
            <a:off x="408050" y="3419921"/>
            <a:ext cx="5381700" cy="56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1F2937"/>
                </a:solidFill>
                <a:latin typeface="Roboto"/>
                <a:ea typeface="Roboto"/>
                <a:cs typeface="Roboto"/>
                <a:sym typeface="Roboto"/>
              </a:rPr>
              <a:t>Rationale:</a:t>
            </a:r>
            <a:r>
              <a:rPr b="0" i="0" lang="en-US" sz="1350" u="none" cap="none" strike="noStrike">
                <a:solidFill>
                  <a:srgbClr val="1F2937"/>
                </a:solidFill>
                <a:latin typeface="Roboto"/>
                <a:ea typeface="Roboto"/>
                <a:cs typeface="Roboto"/>
                <a:sym typeface="Roboto"/>
              </a:rPr>
              <a:t> Tree models excel at sparse, high-dimensional data (from one-hot encoding).</a:t>
            </a:r>
            <a:endParaRPr/>
          </a:p>
        </p:txBody>
      </p:sp>
      <p:sp>
        <p:nvSpPr>
          <p:cNvPr id="258" name="Google Shape;258;p20"/>
          <p:cNvSpPr txBox="1"/>
          <p:nvPr/>
        </p:nvSpPr>
        <p:spPr>
          <a:xfrm>
            <a:off x="6789800" y="1485900"/>
            <a:ext cx="48102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38BDF8"/>
                </a:solidFill>
                <a:latin typeface="Montserrat"/>
                <a:ea typeface="Montserrat"/>
                <a:cs typeface="Montserrat"/>
                <a:sym typeface="Montserrat"/>
              </a:rPr>
              <a:t>Optimized DL (Neural Networks)</a:t>
            </a:r>
            <a:endParaRPr/>
          </a:p>
        </p:txBody>
      </p:sp>
      <p:sp>
        <p:nvSpPr>
          <p:cNvPr id="259" name="Google Shape;259;p20"/>
          <p:cNvSpPr txBox="1"/>
          <p:nvPr/>
        </p:nvSpPr>
        <p:spPr>
          <a:xfrm>
            <a:off x="6789800" y="1905000"/>
            <a:ext cx="48102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1F2937"/>
                </a:solidFill>
                <a:latin typeface="Roboto"/>
                <a:ea typeface="Roboto"/>
                <a:cs typeface="Roboto"/>
                <a:sym typeface="Roboto"/>
              </a:rPr>
              <a:t>Models:</a:t>
            </a:r>
            <a:r>
              <a:rPr b="0" i="0" lang="en-US" sz="1350" u="none" cap="none" strike="noStrike">
                <a:solidFill>
                  <a:srgbClr val="1F2937"/>
                </a:solidFill>
                <a:latin typeface="Roboto"/>
                <a:ea typeface="Roboto"/>
                <a:cs typeface="Roboto"/>
                <a:sym typeface="Roboto"/>
              </a:rPr>
              <a:t> MLP variants, Skip-MLP (ResNet-style).</a:t>
            </a:r>
            <a:endParaRPr/>
          </a:p>
        </p:txBody>
      </p:sp>
      <p:sp>
        <p:nvSpPr>
          <p:cNvPr id="260" name="Google Shape;260;p20"/>
          <p:cNvSpPr txBox="1"/>
          <p:nvPr/>
        </p:nvSpPr>
        <p:spPr>
          <a:xfrm>
            <a:off x="6789800" y="2368030"/>
            <a:ext cx="48102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1F2937"/>
                </a:solidFill>
                <a:latin typeface="Roboto"/>
                <a:ea typeface="Roboto"/>
                <a:cs typeface="Roboto"/>
                <a:sym typeface="Roboto"/>
              </a:rPr>
              <a:t>Optimization:</a:t>
            </a:r>
            <a:r>
              <a:rPr b="0" i="0" lang="en-US" sz="1350" u="none" cap="none" strike="noStrike">
                <a:solidFill>
                  <a:srgbClr val="1F2937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b="1" i="1" lang="en-US" sz="1350" u="none" cap="none" strike="noStrike">
                <a:solidFill>
                  <a:srgbClr val="1F2937"/>
                </a:solidFill>
                <a:latin typeface="Roboto"/>
                <a:ea typeface="Roboto"/>
                <a:cs typeface="Roboto"/>
                <a:sym typeface="Roboto"/>
              </a:rPr>
              <a:t>TensorFlow</a:t>
            </a:r>
            <a:r>
              <a:rPr b="1" i="0" lang="en-US" sz="1350" u="none" cap="none" strike="noStrike">
                <a:solidFill>
                  <a:srgbClr val="1F2937"/>
                </a:solidFill>
                <a:latin typeface="Roboto"/>
                <a:ea typeface="Roboto"/>
                <a:cs typeface="Roboto"/>
                <a:sym typeface="Roboto"/>
              </a:rPr>
              <a:t> GPU acceleration</a:t>
            </a:r>
            <a:r>
              <a:rPr b="0" i="0" lang="en-US" sz="1350" u="none" cap="none" strike="noStrike">
                <a:solidFill>
                  <a:srgbClr val="1F2937"/>
                </a:solidFill>
                <a:latin typeface="Roboto"/>
                <a:ea typeface="Roboto"/>
                <a:cs typeface="Roboto"/>
                <a:sym typeface="Roboto"/>
              </a:rPr>
              <a:t> and </a:t>
            </a:r>
            <a:r>
              <a:rPr b="0" i="1" lang="en-US" sz="1350" u="none" cap="none" strike="noStrike">
                <a:solidFill>
                  <a:srgbClr val="1F2937"/>
                </a:solidFill>
                <a:latin typeface="Roboto"/>
                <a:ea typeface="Roboto"/>
                <a:cs typeface="Roboto"/>
                <a:sym typeface="Roboto"/>
              </a:rPr>
              <a:t>float32</a:t>
            </a:r>
            <a:r>
              <a:rPr b="0" i="0" lang="en-US" sz="1350" u="none" cap="none" strike="noStrike">
                <a:solidFill>
                  <a:srgbClr val="1F2937"/>
                </a:solidFill>
                <a:latin typeface="Roboto"/>
                <a:ea typeface="Roboto"/>
                <a:cs typeface="Roboto"/>
                <a:sym typeface="Roboto"/>
              </a:rPr>
              <a:t> data types for memory efficiency. Skip connections maintain gradient flow in deep networks.</a:t>
            </a:r>
            <a:endParaRPr/>
          </a:p>
        </p:txBody>
      </p:sp>
      <p:sp>
        <p:nvSpPr>
          <p:cNvPr id="261" name="Google Shape;261;p20"/>
          <p:cNvSpPr txBox="1"/>
          <p:nvPr/>
        </p:nvSpPr>
        <p:spPr>
          <a:xfrm>
            <a:off x="6789800" y="3419921"/>
            <a:ext cx="4810200" cy="56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1F2937"/>
                </a:solidFill>
                <a:latin typeface="Roboto"/>
                <a:ea typeface="Roboto"/>
                <a:cs typeface="Roboto"/>
                <a:sym typeface="Roboto"/>
              </a:rPr>
              <a:t>Rationale:</a:t>
            </a:r>
            <a:r>
              <a:rPr b="0" i="0" lang="en-US" sz="1350" u="none" cap="none" strike="noStrike">
                <a:solidFill>
                  <a:srgbClr val="1F2937"/>
                </a:solidFill>
                <a:latin typeface="Roboto"/>
                <a:ea typeface="Roboto"/>
                <a:cs typeface="Roboto"/>
                <a:sym typeface="Roboto"/>
              </a:rPr>
              <a:t> Test the power of deep non-linearity against best-in-class tree ensembles.</a:t>
            </a:r>
            <a:endParaRPr/>
          </a:p>
        </p:txBody>
      </p:sp>
      <p:sp>
        <p:nvSpPr>
          <p:cNvPr id="262" name="Google Shape;262;p20"/>
          <p:cNvSpPr txBox="1"/>
          <p:nvPr/>
        </p:nvSpPr>
        <p:spPr>
          <a:xfrm>
            <a:off x="74675" y="333375"/>
            <a:ext cx="115254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004D99"/>
                </a:solidFill>
                <a:latin typeface="Montserrat"/>
                <a:ea typeface="Montserrat"/>
                <a:cs typeface="Montserrat"/>
                <a:sym typeface="Montserrat"/>
              </a:rPr>
              <a:t>Model Suite &amp; Optimization Strategy</a:t>
            </a:r>
            <a:endParaRPr/>
          </a:p>
        </p:txBody>
      </p:sp>
      <p:sp>
        <p:nvSpPr>
          <p:cNvPr id="263" name="Google Shape;263;p20"/>
          <p:cNvSpPr/>
          <p:nvPr/>
        </p:nvSpPr>
        <p:spPr>
          <a:xfrm>
            <a:off x="74675" y="981075"/>
            <a:ext cx="12382500" cy="285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68" name="Google Shape;268;p21"/>
          <p:cNvGraphicFramePr/>
          <p:nvPr/>
        </p:nvGraphicFramePr>
        <p:xfrm>
          <a:off x="169050" y="152665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{15E96A0A-F571-4F49-84C2-AF81E033E86C}</a:tableStyleId>
              </a:tblPr>
              <a:tblGrid>
                <a:gridCol w="2705175"/>
                <a:gridCol w="1510525"/>
                <a:gridCol w="2444225"/>
                <a:gridCol w="1359450"/>
                <a:gridCol w="1524250"/>
                <a:gridCol w="2224850"/>
              </a:tblGrid>
              <a:tr h="4405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FFFFF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Model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4D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FFFFF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RMSE (₹)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4D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FFFFF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R^2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4D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FFFFF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MAE (₹)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4D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FFFFF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MdAE (₹)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4D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FFFFF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Train Time (s)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4D99"/>
                    </a:solidFill>
                  </a:tcPr>
                </a:tc>
              </a:tr>
              <a:tr h="4405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MLP\_medium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1,401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-62.95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755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480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319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405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MLP\_wide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1,422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-63.16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945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747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3931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F9F9"/>
                    </a:solidFill>
                  </a:tcPr>
                </a:tc>
              </a:tr>
              <a:tr h="4405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Skip\_MLP (ResNet)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1,594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-62.90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964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691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229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405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MLP\_shallow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2,182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-62.73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987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520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320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F9F9"/>
                    </a:solidFill>
                  </a:tcPr>
                </a:tc>
              </a:tr>
              <a:tr h="4405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LightGBM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2,980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0.9995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2,300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1,500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15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405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XGBoost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3,490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0.9994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2,700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1,800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25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F9F9"/>
                    </a:solidFill>
                  </a:tcPr>
                </a:tc>
              </a:tr>
              <a:tr h="4405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LinearRegression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7,600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0.9980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6,000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3,800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5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69" name="Google Shape;269;p21"/>
          <p:cNvSpPr txBox="1"/>
          <p:nvPr/>
        </p:nvSpPr>
        <p:spPr>
          <a:xfrm>
            <a:off x="3190654" y="5232750"/>
            <a:ext cx="48687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1F2937"/>
                </a:solidFill>
                <a:latin typeface="Roboto"/>
                <a:ea typeface="Roboto"/>
                <a:cs typeface="Roboto"/>
                <a:sym typeface="Roboto"/>
              </a:rPr>
              <a:t>*Note: </a:t>
            </a:r>
            <a:r>
              <a:rPr b="0" i="1" lang="en-US" sz="1500" u="none" cap="none" strike="noStrike">
                <a:solidFill>
                  <a:srgbClr val="1F2937"/>
                </a:solidFill>
                <a:latin typeface="Roboto"/>
                <a:ea typeface="Roboto"/>
                <a:cs typeface="Roboto"/>
                <a:sym typeface="Roboto"/>
              </a:rPr>
              <a:t>RMSE</a:t>
            </a:r>
            <a:r>
              <a:rPr b="0" i="0" lang="en-US" sz="1500" u="none" cap="none" strike="noStrike">
                <a:solidFill>
                  <a:srgbClr val="1F2937"/>
                </a:solidFill>
                <a:latin typeface="Roboto"/>
                <a:ea typeface="Roboto"/>
                <a:cs typeface="Roboto"/>
                <a:sym typeface="Roboto"/>
              </a:rPr>
              <a:t>, </a:t>
            </a:r>
            <a:r>
              <a:rPr b="0" i="1" lang="en-US" sz="1500" u="none" cap="none" strike="noStrike">
                <a:solidFill>
                  <a:srgbClr val="1F2937"/>
                </a:solidFill>
                <a:latin typeface="Roboto"/>
                <a:ea typeface="Roboto"/>
                <a:cs typeface="Roboto"/>
                <a:sym typeface="Roboto"/>
              </a:rPr>
              <a:t>MAE</a:t>
            </a:r>
            <a:r>
              <a:rPr b="0" i="0" lang="en-US" sz="1500" u="none" cap="none" strike="noStrike">
                <a:solidFill>
                  <a:srgbClr val="1F2937"/>
                </a:solidFill>
                <a:latin typeface="Roboto"/>
                <a:ea typeface="Roboto"/>
                <a:cs typeface="Roboto"/>
                <a:sym typeface="Roboto"/>
              </a:rPr>
              <a:t>, and </a:t>
            </a:r>
            <a:r>
              <a:rPr b="0" i="1" lang="en-US" sz="1500" u="none" cap="none" strike="noStrike">
                <a:solidFill>
                  <a:srgbClr val="1F2937"/>
                </a:solidFill>
                <a:latin typeface="Roboto"/>
                <a:ea typeface="Roboto"/>
                <a:cs typeface="Roboto"/>
                <a:sym typeface="Roboto"/>
              </a:rPr>
              <a:t>MdAE </a:t>
            </a:r>
            <a:r>
              <a:rPr b="0" i="0" lang="en-US" sz="1500" u="none" cap="none" strike="noStrike">
                <a:solidFill>
                  <a:srgbClr val="1F2937"/>
                </a:solidFill>
                <a:latin typeface="Roboto"/>
                <a:ea typeface="Roboto"/>
                <a:cs typeface="Roboto"/>
                <a:sym typeface="Roboto"/>
              </a:rPr>
              <a:t>are in nominal Rupees (₹).</a:t>
            </a:r>
            <a:endParaRPr/>
          </a:p>
        </p:txBody>
      </p:sp>
      <p:sp>
        <p:nvSpPr>
          <p:cNvPr id="270" name="Google Shape;270;p21"/>
          <p:cNvSpPr/>
          <p:nvPr/>
        </p:nvSpPr>
        <p:spPr>
          <a:xfrm>
            <a:off x="169050" y="1940987"/>
            <a:ext cx="2846400" cy="285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21"/>
          <p:cNvSpPr/>
          <p:nvPr/>
        </p:nvSpPr>
        <p:spPr>
          <a:xfrm>
            <a:off x="3015387" y="1940987"/>
            <a:ext cx="1589400" cy="285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21"/>
          <p:cNvSpPr/>
          <p:nvPr/>
        </p:nvSpPr>
        <p:spPr>
          <a:xfrm>
            <a:off x="4604723" y="1940987"/>
            <a:ext cx="2571900" cy="285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21"/>
          <p:cNvSpPr/>
          <p:nvPr/>
        </p:nvSpPr>
        <p:spPr>
          <a:xfrm>
            <a:off x="7176473" y="1940987"/>
            <a:ext cx="1430400" cy="285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21"/>
          <p:cNvSpPr/>
          <p:nvPr/>
        </p:nvSpPr>
        <p:spPr>
          <a:xfrm>
            <a:off x="8606860" y="1940987"/>
            <a:ext cx="1603800" cy="285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21"/>
          <p:cNvSpPr/>
          <p:nvPr/>
        </p:nvSpPr>
        <p:spPr>
          <a:xfrm>
            <a:off x="10210627" y="1940975"/>
            <a:ext cx="1726800" cy="285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21"/>
          <p:cNvSpPr/>
          <p:nvPr/>
        </p:nvSpPr>
        <p:spPr>
          <a:xfrm>
            <a:off x="169050" y="2407712"/>
            <a:ext cx="2846400" cy="960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p21"/>
          <p:cNvSpPr/>
          <p:nvPr/>
        </p:nvSpPr>
        <p:spPr>
          <a:xfrm>
            <a:off x="3015387" y="2407712"/>
            <a:ext cx="1589400" cy="960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p21"/>
          <p:cNvSpPr/>
          <p:nvPr/>
        </p:nvSpPr>
        <p:spPr>
          <a:xfrm>
            <a:off x="4604723" y="2407712"/>
            <a:ext cx="2571900" cy="960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21"/>
          <p:cNvSpPr/>
          <p:nvPr/>
        </p:nvSpPr>
        <p:spPr>
          <a:xfrm>
            <a:off x="7176473" y="2407712"/>
            <a:ext cx="1430400" cy="960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p21"/>
          <p:cNvSpPr/>
          <p:nvPr/>
        </p:nvSpPr>
        <p:spPr>
          <a:xfrm>
            <a:off x="8606860" y="2407712"/>
            <a:ext cx="1603800" cy="960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p21"/>
          <p:cNvSpPr/>
          <p:nvPr/>
        </p:nvSpPr>
        <p:spPr>
          <a:xfrm>
            <a:off x="10210627" y="2407700"/>
            <a:ext cx="1726800" cy="960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p21"/>
          <p:cNvSpPr/>
          <p:nvPr/>
        </p:nvSpPr>
        <p:spPr>
          <a:xfrm>
            <a:off x="169050" y="2845862"/>
            <a:ext cx="2846400" cy="960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p21"/>
          <p:cNvSpPr/>
          <p:nvPr/>
        </p:nvSpPr>
        <p:spPr>
          <a:xfrm>
            <a:off x="3015387" y="2845862"/>
            <a:ext cx="1589400" cy="960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p21"/>
          <p:cNvSpPr/>
          <p:nvPr/>
        </p:nvSpPr>
        <p:spPr>
          <a:xfrm>
            <a:off x="4604723" y="2845862"/>
            <a:ext cx="2571900" cy="960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p21"/>
          <p:cNvSpPr/>
          <p:nvPr/>
        </p:nvSpPr>
        <p:spPr>
          <a:xfrm>
            <a:off x="7176473" y="2845862"/>
            <a:ext cx="1430400" cy="960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" name="Google Shape;286;p21"/>
          <p:cNvSpPr/>
          <p:nvPr/>
        </p:nvSpPr>
        <p:spPr>
          <a:xfrm>
            <a:off x="8606860" y="2845862"/>
            <a:ext cx="1603800" cy="960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" name="Google Shape;287;p21"/>
          <p:cNvSpPr/>
          <p:nvPr/>
        </p:nvSpPr>
        <p:spPr>
          <a:xfrm>
            <a:off x="10210627" y="2845850"/>
            <a:ext cx="1726800" cy="960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p21"/>
          <p:cNvSpPr/>
          <p:nvPr/>
        </p:nvSpPr>
        <p:spPr>
          <a:xfrm>
            <a:off x="169050" y="3284012"/>
            <a:ext cx="2846400" cy="960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" name="Google Shape;289;p21"/>
          <p:cNvSpPr/>
          <p:nvPr/>
        </p:nvSpPr>
        <p:spPr>
          <a:xfrm>
            <a:off x="3015387" y="3284012"/>
            <a:ext cx="1589400" cy="960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" name="Google Shape;290;p21"/>
          <p:cNvSpPr/>
          <p:nvPr/>
        </p:nvSpPr>
        <p:spPr>
          <a:xfrm>
            <a:off x="4604723" y="3284012"/>
            <a:ext cx="2571900" cy="960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p21"/>
          <p:cNvSpPr/>
          <p:nvPr/>
        </p:nvSpPr>
        <p:spPr>
          <a:xfrm>
            <a:off x="7176473" y="3284012"/>
            <a:ext cx="1430400" cy="960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" name="Google Shape;292;p21"/>
          <p:cNvSpPr/>
          <p:nvPr/>
        </p:nvSpPr>
        <p:spPr>
          <a:xfrm>
            <a:off x="8606860" y="3284012"/>
            <a:ext cx="1603800" cy="960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" name="Google Shape;293;p21"/>
          <p:cNvSpPr/>
          <p:nvPr/>
        </p:nvSpPr>
        <p:spPr>
          <a:xfrm>
            <a:off x="10210627" y="3284000"/>
            <a:ext cx="1726800" cy="960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" name="Google Shape;294;p21"/>
          <p:cNvSpPr/>
          <p:nvPr/>
        </p:nvSpPr>
        <p:spPr>
          <a:xfrm>
            <a:off x="169050" y="3722162"/>
            <a:ext cx="2846400" cy="960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" name="Google Shape;295;p21"/>
          <p:cNvSpPr/>
          <p:nvPr/>
        </p:nvSpPr>
        <p:spPr>
          <a:xfrm>
            <a:off x="3015387" y="3722162"/>
            <a:ext cx="1589400" cy="960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" name="Google Shape;296;p21"/>
          <p:cNvSpPr/>
          <p:nvPr/>
        </p:nvSpPr>
        <p:spPr>
          <a:xfrm>
            <a:off x="4604723" y="3722162"/>
            <a:ext cx="2571900" cy="960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" name="Google Shape;297;p21"/>
          <p:cNvSpPr/>
          <p:nvPr/>
        </p:nvSpPr>
        <p:spPr>
          <a:xfrm>
            <a:off x="7176473" y="3722162"/>
            <a:ext cx="1430400" cy="960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" name="Google Shape;298;p21"/>
          <p:cNvSpPr/>
          <p:nvPr/>
        </p:nvSpPr>
        <p:spPr>
          <a:xfrm>
            <a:off x="8606860" y="3722162"/>
            <a:ext cx="1603800" cy="960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" name="Google Shape;299;p21"/>
          <p:cNvSpPr/>
          <p:nvPr/>
        </p:nvSpPr>
        <p:spPr>
          <a:xfrm>
            <a:off x="10210627" y="3722150"/>
            <a:ext cx="1726800" cy="960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" name="Google Shape;300;p21"/>
          <p:cNvSpPr/>
          <p:nvPr/>
        </p:nvSpPr>
        <p:spPr>
          <a:xfrm>
            <a:off x="169050" y="4160312"/>
            <a:ext cx="2846400" cy="960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" name="Google Shape;301;p21"/>
          <p:cNvSpPr/>
          <p:nvPr/>
        </p:nvSpPr>
        <p:spPr>
          <a:xfrm>
            <a:off x="3015387" y="4160312"/>
            <a:ext cx="1589400" cy="960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" name="Google Shape;302;p21"/>
          <p:cNvSpPr/>
          <p:nvPr/>
        </p:nvSpPr>
        <p:spPr>
          <a:xfrm>
            <a:off x="4604723" y="4160312"/>
            <a:ext cx="2571900" cy="960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3" name="Google Shape;303;p21"/>
          <p:cNvSpPr/>
          <p:nvPr/>
        </p:nvSpPr>
        <p:spPr>
          <a:xfrm>
            <a:off x="7176473" y="4160312"/>
            <a:ext cx="1430400" cy="960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4" name="Google Shape;304;p21"/>
          <p:cNvSpPr/>
          <p:nvPr/>
        </p:nvSpPr>
        <p:spPr>
          <a:xfrm>
            <a:off x="8606860" y="4160312"/>
            <a:ext cx="1603800" cy="960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5" name="Google Shape;305;p21"/>
          <p:cNvSpPr/>
          <p:nvPr/>
        </p:nvSpPr>
        <p:spPr>
          <a:xfrm>
            <a:off x="10210627" y="4160300"/>
            <a:ext cx="1726800" cy="960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" name="Google Shape;306;p21"/>
          <p:cNvSpPr/>
          <p:nvPr/>
        </p:nvSpPr>
        <p:spPr>
          <a:xfrm>
            <a:off x="169050" y="4598462"/>
            <a:ext cx="2846400" cy="960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7" name="Google Shape;307;p21"/>
          <p:cNvSpPr/>
          <p:nvPr/>
        </p:nvSpPr>
        <p:spPr>
          <a:xfrm>
            <a:off x="3015387" y="4598462"/>
            <a:ext cx="1589400" cy="960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8" name="Google Shape;308;p21"/>
          <p:cNvSpPr/>
          <p:nvPr/>
        </p:nvSpPr>
        <p:spPr>
          <a:xfrm>
            <a:off x="4604723" y="4598462"/>
            <a:ext cx="2571900" cy="960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9" name="Google Shape;309;p21"/>
          <p:cNvSpPr/>
          <p:nvPr/>
        </p:nvSpPr>
        <p:spPr>
          <a:xfrm>
            <a:off x="7176473" y="4598462"/>
            <a:ext cx="1430400" cy="960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0" name="Google Shape;310;p21"/>
          <p:cNvSpPr/>
          <p:nvPr/>
        </p:nvSpPr>
        <p:spPr>
          <a:xfrm>
            <a:off x="8606860" y="4598462"/>
            <a:ext cx="1603800" cy="960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1" name="Google Shape;311;p21"/>
          <p:cNvSpPr/>
          <p:nvPr/>
        </p:nvSpPr>
        <p:spPr>
          <a:xfrm>
            <a:off x="10210627" y="4598450"/>
            <a:ext cx="1726800" cy="960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2" name="Google Shape;312;p21"/>
          <p:cNvSpPr/>
          <p:nvPr/>
        </p:nvSpPr>
        <p:spPr>
          <a:xfrm>
            <a:off x="169050" y="5036612"/>
            <a:ext cx="2846400" cy="960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3" name="Google Shape;313;p21"/>
          <p:cNvSpPr/>
          <p:nvPr/>
        </p:nvSpPr>
        <p:spPr>
          <a:xfrm>
            <a:off x="3015387" y="5036612"/>
            <a:ext cx="1589400" cy="960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4" name="Google Shape;314;p21"/>
          <p:cNvSpPr/>
          <p:nvPr/>
        </p:nvSpPr>
        <p:spPr>
          <a:xfrm>
            <a:off x="4604723" y="5036612"/>
            <a:ext cx="2571900" cy="960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5" name="Google Shape;315;p21"/>
          <p:cNvSpPr/>
          <p:nvPr/>
        </p:nvSpPr>
        <p:spPr>
          <a:xfrm>
            <a:off x="7176473" y="5036612"/>
            <a:ext cx="1430400" cy="960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6" name="Google Shape;316;p21"/>
          <p:cNvSpPr/>
          <p:nvPr/>
        </p:nvSpPr>
        <p:spPr>
          <a:xfrm>
            <a:off x="8606860" y="5036612"/>
            <a:ext cx="1603800" cy="960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7" name="Google Shape;317;p21"/>
          <p:cNvSpPr/>
          <p:nvPr/>
        </p:nvSpPr>
        <p:spPr>
          <a:xfrm>
            <a:off x="10210627" y="5036600"/>
            <a:ext cx="1726800" cy="960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8" name="Google Shape;318;p21"/>
          <p:cNvSpPr txBox="1"/>
          <p:nvPr/>
        </p:nvSpPr>
        <p:spPr>
          <a:xfrm>
            <a:off x="169050" y="469375"/>
            <a:ext cx="115254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004D99"/>
                </a:solidFill>
                <a:latin typeface="Montserrat"/>
                <a:ea typeface="Montserrat"/>
                <a:cs typeface="Montserrat"/>
                <a:sym typeface="Montserrat"/>
              </a:rPr>
              <a:t>Comprehensive Model Metrics Summary</a:t>
            </a:r>
            <a:endParaRPr/>
          </a:p>
        </p:txBody>
      </p:sp>
      <p:sp>
        <p:nvSpPr>
          <p:cNvPr id="319" name="Google Shape;319;p21"/>
          <p:cNvSpPr/>
          <p:nvPr/>
        </p:nvSpPr>
        <p:spPr>
          <a:xfrm>
            <a:off x="169050" y="1117075"/>
            <a:ext cx="12382500" cy="285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p22"/>
          <p:cNvSpPr txBox="1"/>
          <p:nvPr/>
        </p:nvSpPr>
        <p:spPr>
          <a:xfrm>
            <a:off x="7721125" y="1104900"/>
            <a:ext cx="3943200" cy="34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50" u="none" cap="none" strike="noStrike">
                <a:solidFill>
                  <a:srgbClr val="004D99"/>
                </a:solidFill>
                <a:latin typeface="Montserrat"/>
                <a:ea typeface="Montserrat"/>
                <a:cs typeface="Montserrat"/>
                <a:sym typeface="Montserrat"/>
              </a:rPr>
              <a:t>Initial Observation (RMSE)</a:t>
            </a:r>
            <a:endParaRPr/>
          </a:p>
        </p:txBody>
      </p:sp>
      <p:sp>
        <p:nvSpPr>
          <p:cNvPr id="325" name="Google Shape;325;p22"/>
          <p:cNvSpPr txBox="1"/>
          <p:nvPr/>
        </p:nvSpPr>
        <p:spPr>
          <a:xfrm>
            <a:off x="7721125" y="4076700"/>
            <a:ext cx="3943200" cy="34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50" u="none" cap="none" strike="noStrike">
                <a:solidFill>
                  <a:srgbClr val="004D99"/>
                </a:solidFill>
                <a:latin typeface="Montserrat"/>
                <a:ea typeface="Montserrat"/>
                <a:cs typeface="Montserrat"/>
                <a:sym typeface="Montserrat"/>
              </a:rPr>
              <a:t>Supportive Answer:</a:t>
            </a:r>
            <a:endParaRPr/>
          </a:p>
        </p:txBody>
      </p:sp>
      <p:sp>
        <p:nvSpPr>
          <p:cNvPr id="326" name="Google Shape;326;p22"/>
          <p:cNvSpPr txBox="1"/>
          <p:nvPr/>
        </p:nvSpPr>
        <p:spPr>
          <a:xfrm>
            <a:off x="7721125" y="4572000"/>
            <a:ext cx="3943200" cy="140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1F2937"/>
                </a:solidFill>
                <a:latin typeface="Roboto"/>
                <a:ea typeface="Roboto"/>
                <a:cs typeface="Roboto"/>
                <a:sym typeface="Roboto"/>
              </a:rPr>
              <a:t>The low </a:t>
            </a:r>
            <a:r>
              <a:rPr b="0" i="1" lang="en-US" sz="1500" u="none" cap="none" strike="noStrike">
                <a:solidFill>
                  <a:srgbClr val="1F2937"/>
                </a:solidFill>
                <a:latin typeface="Roboto"/>
                <a:ea typeface="Roboto"/>
                <a:cs typeface="Roboto"/>
                <a:sym typeface="Roboto"/>
              </a:rPr>
              <a:t>RMSE</a:t>
            </a:r>
            <a:r>
              <a:rPr b="0" i="0" lang="en-US" sz="1500" u="none" cap="none" strike="noStrike">
                <a:solidFill>
                  <a:srgbClr val="1F2937"/>
                </a:solidFill>
                <a:latin typeface="Roboto"/>
                <a:ea typeface="Roboto"/>
                <a:cs typeface="Roboto"/>
                <a:sym typeface="Roboto"/>
              </a:rPr>
              <a:t> for </a:t>
            </a:r>
            <a:r>
              <a:rPr b="0" i="1" lang="en-US" sz="1500" u="none" cap="none" strike="noStrike">
                <a:solidFill>
                  <a:srgbClr val="1F2937"/>
                </a:solidFill>
                <a:latin typeface="Roboto"/>
                <a:ea typeface="Roboto"/>
                <a:cs typeface="Roboto"/>
                <a:sym typeface="Roboto"/>
              </a:rPr>
              <a:t>DL</a:t>
            </a:r>
            <a:r>
              <a:rPr b="0" i="0" lang="en-US" sz="1500" u="none" cap="none" strike="noStrike">
                <a:solidFill>
                  <a:srgbClr val="1F2937"/>
                </a:solidFill>
                <a:latin typeface="Roboto"/>
                <a:ea typeface="Roboto"/>
                <a:cs typeface="Roboto"/>
                <a:sym typeface="Roboto"/>
              </a:rPr>
              <a:t> proves its ability to minimize the MSE loss function, indicating extremely high </a:t>
            </a:r>
            <a:r>
              <a:rPr b="1" i="0" lang="en-US" sz="1500" u="none" cap="none" strike="noStrike">
                <a:solidFill>
                  <a:srgbClr val="1F2937"/>
                </a:solidFill>
                <a:latin typeface="Roboto"/>
                <a:ea typeface="Roboto"/>
                <a:cs typeface="Roboto"/>
                <a:sym typeface="Roboto"/>
              </a:rPr>
              <a:t>fit </a:t>
            </a:r>
            <a:r>
              <a:rPr b="0" i="0" lang="en-US" sz="1500" u="none" cap="none" strike="noStrike">
                <a:solidFill>
                  <a:srgbClr val="1F2937"/>
                </a:solidFill>
                <a:latin typeface="Roboto"/>
                <a:ea typeface="Roboto"/>
                <a:cs typeface="Roboto"/>
                <a:sym typeface="Roboto"/>
              </a:rPr>
              <a:t>to the training data. This is why the </a:t>
            </a:r>
            <a:r>
              <a:rPr b="0" i="1" lang="en-US" sz="1500" u="none" cap="none" strike="noStrike">
                <a:solidFill>
                  <a:srgbClr val="1F2937"/>
                </a:solidFill>
                <a:latin typeface="Roboto"/>
                <a:ea typeface="Roboto"/>
                <a:cs typeface="Roboto"/>
                <a:sym typeface="Roboto"/>
              </a:rPr>
              <a:t>DL</a:t>
            </a:r>
            <a:r>
              <a:rPr b="0" i="0" lang="en-US" sz="1500" u="none" cap="none" strike="noStrike">
                <a:solidFill>
                  <a:srgbClr val="1F2937"/>
                </a:solidFill>
                <a:latin typeface="Roboto"/>
                <a:ea typeface="Roboto"/>
                <a:cs typeface="Roboto"/>
                <a:sym typeface="Roboto"/>
              </a:rPr>
              <a:t> models top the chart.</a:t>
            </a:r>
            <a:endParaRPr/>
          </a:p>
        </p:txBody>
      </p:sp>
      <p:sp>
        <p:nvSpPr>
          <p:cNvPr id="327" name="Google Shape;327;p22"/>
          <p:cNvSpPr txBox="1"/>
          <p:nvPr/>
        </p:nvSpPr>
        <p:spPr>
          <a:xfrm>
            <a:off x="8006875" y="1600200"/>
            <a:ext cx="36576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04D99"/>
                </a:solidFill>
                <a:latin typeface="Roboto"/>
                <a:ea typeface="Roboto"/>
                <a:cs typeface="Roboto"/>
                <a:sym typeface="Roboto"/>
              </a:rPr>
              <a:t>DL Appears Superior:</a:t>
            </a:r>
            <a:r>
              <a:rPr b="0" i="0" lang="en-US" sz="1500" u="none" cap="none" strike="noStrike">
                <a:solidFill>
                  <a:srgbClr val="1F2937"/>
                </a:solidFill>
                <a:latin typeface="Roboto"/>
                <a:ea typeface="Roboto"/>
                <a:cs typeface="Roboto"/>
                <a:sym typeface="Roboto"/>
              </a:rPr>
              <a:t> The </a:t>
            </a:r>
            <a:r>
              <a:rPr b="0" i="1" lang="en-US" sz="1500" u="none" cap="none" strike="noStrike">
                <a:solidFill>
                  <a:srgbClr val="1F2937"/>
                </a:solidFill>
                <a:latin typeface="Roboto"/>
                <a:ea typeface="Roboto"/>
                <a:cs typeface="Roboto"/>
                <a:sym typeface="Roboto"/>
              </a:rPr>
              <a:t>MLP</a:t>
            </a:r>
            <a:r>
              <a:rPr b="0" i="0" lang="en-US" sz="1500" u="none" cap="none" strike="noStrike">
                <a:solidFill>
                  <a:srgbClr val="1F2937"/>
                </a:solidFill>
                <a:latin typeface="Roboto"/>
                <a:ea typeface="Roboto"/>
                <a:cs typeface="Roboto"/>
                <a:sym typeface="Roboto"/>
              </a:rPr>
              <a:t> variants occupy the top 4 ranks, suggesting the lowest prediction error.</a:t>
            </a:r>
            <a:endParaRPr/>
          </a:p>
        </p:txBody>
      </p:sp>
      <p:sp>
        <p:nvSpPr>
          <p:cNvPr id="328" name="Google Shape;328;p22"/>
          <p:cNvSpPr txBox="1"/>
          <p:nvPr/>
        </p:nvSpPr>
        <p:spPr>
          <a:xfrm>
            <a:off x="8006875" y="2743200"/>
            <a:ext cx="36576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04D99"/>
                </a:solidFill>
                <a:latin typeface="Roboto"/>
                <a:ea typeface="Roboto"/>
                <a:cs typeface="Roboto"/>
                <a:sym typeface="Roboto"/>
              </a:rPr>
              <a:t>Tree Ensembles vs. Linear:</a:t>
            </a:r>
            <a:r>
              <a:rPr b="0" i="0" lang="en-US" sz="1500" u="none" cap="none" strike="noStrike">
                <a:solidFill>
                  <a:srgbClr val="1F2937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b="0" i="1" lang="en-US" sz="1500" u="none" cap="none" strike="noStrike">
                <a:solidFill>
                  <a:srgbClr val="1F2937"/>
                </a:solidFill>
                <a:latin typeface="Roboto"/>
                <a:ea typeface="Roboto"/>
                <a:cs typeface="Roboto"/>
                <a:sym typeface="Roboto"/>
              </a:rPr>
              <a:t>LightGBM</a:t>
            </a:r>
            <a:r>
              <a:rPr i="1" lang="en-US" sz="1500">
                <a:solidFill>
                  <a:srgbClr val="1F2937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b="0" i="0" lang="en-US" sz="1500" u="none" cap="none" strike="noStrike">
                <a:solidFill>
                  <a:srgbClr val="1F2937"/>
                </a:solidFill>
                <a:latin typeface="Roboto"/>
                <a:ea typeface="Roboto"/>
                <a:cs typeface="Roboto"/>
                <a:sym typeface="Roboto"/>
              </a:rPr>
              <a:t>(</a:t>
            </a:r>
            <a:r>
              <a:rPr b="1" i="1" lang="en-US" sz="1500" u="none" cap="none" strike="noStrike">
                <a:solidFill>
                  <a:srgbClr val="1F2937"/>
                </a:solidFill>
                <a:latin typeface="Roboto"/>
                <a:ea typeface="Roboto"/>
                <a:cs typeface="Roboto"/>
                <a:sym typeface="Roboto"/>
              </a:rPr>
              <a:t>2,980</a:t>
            </a:r>
            <a:r>
              <a:rPr b="0" i="0" lang="en-US" sz="1500" u="none" cap="none" strike="noStrike">
                <a:solidFill>
                  <a:srgbClr val="1F2937"/>
                </a:solidFill>
                <a:latin typeface="Roboto"/>
                <a:ea typeface="Roboto"/>
                <a:cs typeface="Roboto"/>
                <a:sym typeface="Roboto"/>
              </a:rPr>
              <a:t>) is &gt;50% better than the </a:t>
            </a:r>
            <a:r>
              <a:rPr b="0" i="1" lang="en-US" sz="1500" u="none" cap="none" strike="noStrike">
                <a:solidFill>
                  <a:srgbClr val="1F2937"/>
                </a:solidFill>
                <a:latin typeface="Roboto"/>
                <a:ea typeface="Roboto"/>
                <a:cs typeface="Roboto"/>
                <a:sym typeface="Roboto"/>
              </a:rPr>
              <a:t>Linear</a:t>
            </a:r>
            <a:r>
              <a:rPr lang="en-US" sz="1500">
                <a:solidFill>
                  <a:srgbClr val="1F2937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b="0" i="0" lang="en-US" sz="1500" u="none" cap="none" strike="noStrike">
                <a:solidFill>
                  <a:srgbClr val="1F2937"/>
                </a:solidFill>
                <a:latin typeface="Roboto"/>
                <a:ea typeface="Roboto"/>
                <a:cs typeface="Roboto"/>
                <a:sym typeface="Roboto"/>
              </a:rPr>
              <a:t>Baseline </a:t>
            </a:r>
            <a:r>
              <a:rPr b="1" i="1" lang="en-US" sz="1500" u="none" cap="none" strike="noStrike">
                <a:solidFill>
                  <a:srgbClr val="1F2937"/>
                </a:solidFill>
                <a:latin typeface="Roboto"/>
                <a:ea typeface="Roboto"/>
                <a:cs typeface="Roboto"/>
                <a:sym typeface="Roboto"/>
              </a:rPr>
              <a:t>7,600</a:t>
            </a:r>
            <a:r>
              <a:rPr b="0" i="0" lang="en-US" sz="1500" u="none" cap="none" strike="noStrike">
                <a:solidFill>
                  <a:srgbClr val="1F2937"/>
                </a:solidFill>
                <a:latin typeface="Roboto"/>
                <a:ea typeface="Roboto"/>
                <a:cs typeface="Roboto"/>
                <a:sym typeface="Roboto"/>
              </a:rPr>
              <a:t>.</a:t>
            </a:r>
            <a:endParaRPr/>
          </a:p>
        </p:txBody>
      </p:sp>
      <p:sp>
        <p:nvSpPr>
          <p:cNvPr id="329" name="Google Shape;329;p22"/>
          <p:cNvSpPr txBox="1"/>
          <p:nvPr/>
        </p:nvSpPr>
        <p:spPr>
          <a:xfrm>
            <a:off x="139225" y="238125"/>
            <a:ext cx="115254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004D99"/>
                </a:solidFill>
                <a:latin typeface="Montserrat"/>
                <a:ea typeface="Montserrat"/>
                <a:cs typeface="Montserrat"/>
                <a:sym typeface="Montserrat"/>
              </a:rPr>
              <a:t>Result Chart 1: Performance Ranking (RMSE)</a:t>
            </a:r>
            <a:endParaRPr/>
          </a:p>
        </p:txBody>
      </p:sp>
      <p:sp>
        <p:nvSpPr>
          <p:cNvPr id="330" name="Google Shape;330;p22"/>
          <p:cNvSpPr/>
          <p:nvPr/>
        </p:nvSpPr>
        <p:spPr>
          <a:xfrm>
            <a:off x="139225" y="885825"/>
            <a:ext cx="12382500" cy="285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331" name="Google Shape;331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721125" y="1638300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32" name="Google Shape;332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721125" y="2781300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33" name="Google Shape;333;p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39225" y="1838325"/>
            <a:ext cx="7200901" cy="315039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37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p23"/>
          <p:cNvSpPr txBox="1"/>
          <p:nvPr/>
        </p:nvSpPr>
        <p:spPr>
          <a:xfrm>
            <a:off x="7729775" y="1064875"/>
            <a:ext cx="3943200" cy="69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50" u="none" cap="none" strike="noStrike">
                <a:solidFill>
                  <a:srgbClr val="004D99"/>
                </a:solidFill>
                <a:latin typeface="Montserrat"/>
                <a:ea typeface="Montserrat"/>
                <a:cs typeface="Montserrat"/>
                <a:sym typeface="Montserrat"/>
              </a:rPr>
              <a:t>The</a:t>
            </a:r>
            <a:r>
              <a:rPr b="1" i="0" lang="en-US" sz="2250" u="none" cap="none" strike="noStrike">
                <a:solidFill>
                  <a:srgbClr val="004D99"/>
                </a:solidFill>
                <a:latin typeface="Montserrat"/>
                <a:ea typeface="Montserrat"/>
                <a:cs typeface="Montserrat"/>
                <a:sym typeface="Montserrat"/>
              </a:rPr>
              <a:t> R</a:t>
            </a:r>
            <a:r>
              <a:rPr b="1" i="0" lang="en-US" sz="2250" u="none" cap="none" strike="noStrike">
                <a:solidFill>
                  <a:srgbClr val="004D99"/>
                </a:solidFill>
                <a:latin typeface="Montserrat"/>
                <a:ea typeface="Montserrat"/>
                <a:cs typeface="Montserrat"/>
                <a:sym typeface="Montserrat"/>
              </a:rPr>
              <a:t>^2 Anomaly &amp; Concern</a:t>
            </a:r>
            <a:endParaRPr/>
          </a:p>
        </p:txBody>
      </p:sp>
      <p:sp>
        <p:nvSpPr>
          <p:cNvPr id="339" name="Google Shape;339;p23"/>
          <p:cNvSpPr txBox="1"/>
          <p:nvPr/>
        </p:nvSpPr>
        <p:spPr>
          <a:xfrm>
            <a:off x="8015525" y="1912600"/>
            <a:ext cx="3657600" cy="140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04D99"/>
                </a:solidFill>
                <a:latin typeface="Roboto"/>
                <a:ea typeface="Roboto"/>
                <a:cs typeface="Roboto"/>
                <a:sym typeface="Roboto"/>
              </a:rPr>
              <a:t>The Concern:</a:t>
            </a:r>
            <a:r>
              <a:rPr b="0" i="1" lang="en-US" sz="1500" u="none" cap="none" strike="noStrike">
                <a:solidFill>
                  <a:srgbClr val="1F2937"/>
                </a:solidFill>
                <a:latin typeface="Roboto"/>
                <a:ea typeface="Roboto"/>
                <a:cs typeface="Roboto"/>
                <a:sym typeface="Roboto"/>
              </a:rPr>
              <a:t> DL </a:t>
            </a:r>
            <a:r>
              <a:rPr b="0" i="0" lang="en-US" sz="1500" u="none" cap="none" strike="noStrike">
                <a:solidFill>
                  <a:srgbClr val="1F2937"/>
                </a:solidFill>
                <a:latin typeface="Roboto"/>
                <a:ea typeface="Roboto"/>
                <a:cs typeface="Roboto"/>
                <a:sym typeface="Roboto"/>
              </a:rPr>
              <a:t>models registered a negative R^2 (e.g., -62.95), meaning their predictions are </a:t>
            </a:r>
            <a:r>
              <a:rPr b="1" i="0" lang="en-US" sz="1500" u="none" cap="none" strike="noStrike">
                <a:solidFill>
                  <a:srgbClr val="1F2937"/>
                </a:solidFill>
                <a:latin typeface="Roboto"/>
                <a:ea typeface="Roboto"/>
                <a:cs typeface="Roboto"/>
                <a:sym typeface="Roboto"/>
              </a:rPr>
              <a:t>worse than just guessing the average employment demand</a:t>
            </a:r>
            <a:r>
              <a:rPr b="0" i="0" lang="en-US" sz="1500" u="none" cap="none" strike="noStrike">
                <a:solidFill>
                  <a:srgbClr val="1F2937"/>
                </a:solidFill>
                <a:latin typeface="Roboto"/>
                <a:ea typeface="Roboto"/>
                <a:cs typeface="Roboto"/>
                <a:sym typeface="Roboto"/>
              </a:rPr>
              <a:t>.</a:t>
            </a:r>
            <a:endParaRPr/>
          </a:p>
        </p:txBody>
      </p:sp>
      <p:sp>
        <p:nvSpPr>
          <p:cNvPr id="340" name="Google Shape;340;p23"/>
          <p:cNvSpPr txBox="1"/>
          <p:nvPr/>
        </p:nvSpPr>
        <p:spPr>
          <a:xfrm>
            <a:off x="8015525" y="3379450"/>
            <a:ext cx="3657600" cy="140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04D99"/>
                </a:solidFill>
                <a:latin typeface="Roboto"/>
                <a:ea typeface="Roboto"/>
                <a:cs typeface="Roboto"/>
                <a:sym typeface="Roboto"/>
              </a:rPr>
              <a:t>The Reason:</a:t>
            </a:r>
            <a:r>
              <a:rPr b="0" i="0" lang="en-US" sz="1500" u="none" cap="none" strike="noStrike">
                <a:solidFill>
                  <a:srgbClr val="1F2937"/>
                </a:solidFill>
                <a:latin typeface="Roboto"/>
                <a:ea typeface="Roboto"/>
                <a:cs typeface="Roboto"/>
                <a:sym typeface="Roboto"/>
              </a:rPr>
              <a:t> The DL models are numerically unstable, likely due to the un-normalized, heavy-tailed distribution of the target variable (high variance/outliers).</a:t>
            </a:r>
            <a:endParaRPr/>
          </a:p>
        </p:txBody>
      </p:sp>
      <p:sp>
        <p:nvSpPr>
          <p:cNvPr id="341" name="Google Shape;341;p23"/>
          <p:cNvSpPr txBox="1"/>
          <p:nvPr/>
        </p:nvSpPr>
        <p:spPr>
          <a:xfrm>
            <a:off x="8015525" y="4846300"/>
            <a:ext cx="3657600" cy="1800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04D99"/>
                </a:solidFill>
                <a:latin typeface="Roboto"/>
                <a:ea typeface="Roboto"/>
                <a:cs typeface="Roboto"/>
                <a:sym typeface="Roboto"/>
              </a:rPr>
              <a:t>Supportive Answer:</a:t>
            </a:r>
            <a:r>
              <a:rPr b="0" i="0" lang="en-US" sz="1500" u="none" cap="none" strike="noStrike">
                <a:solidFill>
                  <a:srgbClr val="1F2937"/>
                </a:solidFill>
                <a:latin typeface="Roboto"/>
                <a:ea typeface="Roboto"/>
                <a:cs typeface="Roboto"/>
                <a:sym typeface="Roboto"/>
              </a:rPr>
              <a:t> We must discard the </a:t>
            </a:r>
            <a:r>
              <a:rPr b="0" i="1" lang="en-US" sz="1500" u="none" cap="none" strike="noStrike">
                <a:solidFill>
                  <a:srgbClr val="1F2937"/>
                </a:solidFill>
                <a:latin typeface="Roboto"/>
                <a:ea typeface="Roboto"/>
                <a:cs typeface="Roboto"/>
                <a:sym typeface="Roboto"/>
              </a:rPr>
              <a:t>DL</a:t>
            </a:r>
            <a:r>
              <a:rPr b="0" i="0" lang="en-US" sz="1500" u="none" cap="none" strike="noStrike">
                <a:solidFill>
                  <a:srgbClr val="1F2937"/>
                </a:solidFill>
                <a:latin typeface="Roboto"/>
                <a:ea typeface="Roboto"/>
                <a:cs typeface="Roboto"/>
                <a:sym typeface="Roboto"/>
              </a:rPr>
              <a:t> results for deployment, as their low </a:t>
            </a:r>
            <a:r>
              <a:rPr b="0" i="1" lang="en-US" sz="1500" u="none" cap="none" strike="noStrike">
                <a:solidFill>
                  <a:srgbClr val="1F2937"/>
                </a:solidFill>
                <a:latin typeface="Roboto"/>
                <a:ea typeface="Roboto"/>
                <a:cs typeface="Roboto"/>
                <a:sym typeface="Roboto"/>
              </a:rPr>
              <a:t>RMSE</a:t>
            </a:r>
            <a:r>
              <a:rPr b="0" i="0" lang="en-US" sz="1500" u="none" cap="none" strike="noStrike">
                <a:solidFill>
                  <a:srgbClr val="1F2937"/>
                </a:solidFill>
                <a:latin typeface="Roboto"/>
                <a:ea typeface="Roboto"/>
                <a:cs typeface="Roboto"/>
                <a:sym typeface="Roboto"/>
              </a:rPr>
              <a:t> is an artifact of </a:t>
            </a:r>
            <a:r>
              <a:rPr b="1" i="0" lang="en-US" sz="1500" u="none" cap="none" strike="noStrike">
                <a:solidFill>
                  <a:srgbClr val="1F2937"/>
                </a:solidFill>
                <a:latin typeface="Roboto"/>
                <a:ea typeface="Roboto"/>
                <a:cs typeface="Roboto"/>
                <a:sym typeface="Roboto"/>
              </a:rPr>
              <a:t>overfitting</a:t>
            </a:r>
            <a:r>
              <a:rPr b="0" i="0" lang="en-US" sz="1500" u="none" cap="none" strike="noStrike">
                <a:solidFill>
                  <a:srgbClr val="1F2937"/>
                </a:solidFill>
                <a:latin typeface="Roboto"/>
                <a:ea typeface="Roboto"/>
                <a:cs typeface="Roboto"/>
                <a:sym typeface="Roboto"/>
              </a:rPr>
              <a:t> or </a:t>
            </a:r>
            <a:r>
              <a:rPr b="1" i="0" lang="en-US" sz="1500" u="none" cap="none" strike="noStrike">
                <a:solidFill>
                  <a:srgbClr val="1F2937"/>
                </a:solidFill>
                <a:latin typeface="Roboto"/>
                <a:ea typeface="Roboto"/>
                <a:cs typeface="Roboto"/>
                <a:sym typeface="Roboto"/>
              </a:rPr>
              <a:t>numerical instability</a:t>
            </a:r>
            <a:r>
              <a:rPr b="0" i="0" lang="en-US" sz="1500" u="none" cap="none" strike="noStrike">
                <a:solidFill>
                  <a:srgbClr val="1F2937"/>
                </a:solidFill>
                <a:latin typeface="Roboto"/>
                <a:ea typeface="Roboto"/>
                <a:cs typeface="Roboto"/>
                <a:sym typeface="Roboto"/>
              </a:rPr>
              <a:t>, not generalized prediction power.</a:t>
            </a:r>
            <a:endParaRPr/>
          </a:p>
        </p:txBody>
      </p:sp>
      <p:sp>
        <p:nvSpPr>
          <p:cNvPr id="342" name="Google Shape;342;p23"/>
          <p:cNvSpPr txBox="1"/>
          <p:nvPr/>
        </p:nvSpPr>
        <p:spPr>
          <a:xfrm>
            <a:off x="147875" y="190500"/>
            <a:ext cx="115254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004D99"/>
                </a:solidFill>
                <a:latin typeface="Montserrat"/>
                <a:ea typeface="Montserrat"/>
                <a:cs typeface="Montserrat"/>
                <a:sym typeface="Montserrat"/>
              </a:rPr>
              <a:t>Result Chart 2: The Critical</a:t>
            </a:r>
            <a:r>
              <a:rPr b="1" i="0" lang="en-US" sz="3600" u="none" cap="none" strike="noStrike">
                <a:solidFill>
                  <a:srgbClr val="004D99"/>
                </a:solidFill>
                <a:latin typeface="Montserrat"/>
                <a:ea typeface="Montserrat"/>
                <a:cs typeface="Montserrat"/>
                <a:sym typeface="Montserrat"/>
              </a:rPr>
              <a:t> R</a:t>
            </a:r>
            <a:r>
              <a:rPr b="1" i="0" lang="en-US" sz="3600" u="none" cap="none" strike="noStrike">
                <a:solidFill>
                  <a:srgbClr val="004D99"/>
                </a:solidFill>
                <a:latin typeface="Montserrat"/>
                <a:ea typeface="Montserrat"/>
                <a:cs typeface="Montserrat"/>
                <a:sym typeface="Montserrat"/>
              </a:rPr>
              <a:t>^2 Anomaly</a:t>
            </a:r>
            <a:endParaRPr/>
          </a:p>
        </p:txBody>
      </p:sp>
      <p:sp>
        <p:nvSpPr>
          <p:cNvPr id="343" name="Google Shape;343;p23"/>
          <p:cNvSpPr/>
          <p:nvPr/>
        </p:nvSpPr>
        <p:spPr>
          <a:xfrm>
            <a:off x="147875" y="845800"/>
            <a:ext cx="12382500" cy="285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344" name="Google Shape;344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729775" y="1950700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45" name="Google Shape;345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729775" y="3417550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46" name="Google Shape;346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729775" y="4884400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47" name="Google Shape;347;p23" title="Code_Generated_Image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47875" y="975503"/>
            <a:ext cx="7200900" cy="57607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5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p24"/>
          <p:cNvSpPr txBox="1"/>
          <p:nvPr/>
        </p:nvSpPr>
        <p:spPr>
          <a:xfrm>
            <a:off x="7781625" y="1023275"/>
            <a:ext cx="3943200" cy="69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50" u="none" cap="none" strike="noStrike">
                <a:solidFill>
                  <a:srgbClr val="004D99"/>
                </a:solidFill>
                <a:latin typeface="Montserrat"/>
                <a:ea typeface="Montserrat"/>
                <a:cs typeface="Montserrat"/>
                <a:sym typeface="Montserrat"/>
              </a:rPr>
              <a:t>Analysis: Outliers and Typical Error</a:t>
            </a:r>
            <a:endParaRPr/>
          </a:p>
        </p:txBody>
      </p:sp>
      <p:sp>
        <p:nvSpPr>
          <p:cNvPr id="353" name="Google Shape;353;p24"/>
          <p:cNvSpPr txBox="1"/>
          <p:nvPr/>
        </p:nvSpPr>
        <p:spPr>
          <a:xfrm>
            <a:off x="8067375" y="1871000"/>
            <a:ext cx="3657600" cy="6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04D99"/>
                </a:solidFill>
                <a:latin typeface="Roboto"/>
                <a:ea typeface="Roboto"/>
                <a:cs typeface="Roboto"/>
                <a:sym typeface="Roboto"/>
              </a:rPr>
              <a:t>MdAE Significance:</a:t>
            </a:r>
            <a:r>
              <a:rPr b="0" i="0" lang="en-US" sz="1500" u="none" cap="none" strike="noStrike">
                <a:solidFill>
                  <a:srgbClr val="1F2937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b="0" i="1" lang="en-US" sz="1500" u="none" cap="none" strike="noStrike">
                <a:solidFill>
                  <a:srgbClr val="1F2937"/>
                </a:solidFill>
                <a:latin typeface="Roboto"/>
                <a:ea typeface="Roboto"/>
                <a:cs typeface="Roboto"/>
                <a:sym typeface="Roboto"/>
              </a:rPr>
              <a:t>MdAE</a:t>
            </a:r>
            <a:r>
              <a:rPr b="0" i="0" lang="en-US" sz="1500" u="none" cap="none" strike="noStrike">
                <a:solidFill>
                  <a:srgbClr val="1F2937"/>
                </a:solidFill>
                <a:latin typeface="Roboto"/>
                <a:ea typeface="Roboto"/>
                <a:cs typeface="Roboto"/>
                <a:sym typeface="Roboto"/>
              </a:rPr>
              <a:t> shows the typical error, unaffected by outliers.</a:t>
            </a:r>
            <a:endParaRPr/>
          </a:p>
        </p:txBody>
      </p:sp>
      <p:sp>
        <p:nvSpPr>
          <p:cNvPr id="354" name="Google Shape;354;p24"/>
          <p:cNvSpPr txBox="1"/>
          <p:nvPr/>
        </p:nvSpPr>
        <p:spPr>
          <a:xfrm>
            <a:off x="8067375" y="2690150"/>
            <a:ext cx="3657600" cy="140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04D99"/>
                </a:solidFill>
                <a:latin typeface="Roboto"/>
                <a:ea typeface="Roboto"/>
                <a:cs typeface="Roboto"/>
                <a:sym typeface="Roboto"/>
              </a:rPr>
              <a:t>LightGBM Stability:</a:t>
            </a:r>
            <a:r>
              <a:rPr b="0" i="0" lang="en-US" sz="1500" u="none" cap="none" strike="noStrike">
                <a:solidFill>
                  <a:srgbClr val="1F2937"/>
                </a:solidFill>
                <a:latin typeface="Roboto"/>
                <a:ea typeface="Roboto"/>
                <a:cs typeface="Roboto"/>
                <a:sym typeface="Roboto"/>
              </a:rPr>
              <a:t> The ratio </a:t>
            </a:r>
            <a:r>
              <a:rPr b="0" i="1" lang="en-US" sz="1500" u="none" cap="none" strike="noStrike">
                <a:solidFill>
                  <a:srgbClr val="1F2937"/>
                </a:solidFill>
                <a:latin typeface="Roboto"/>
                <a:ea typeface="Roboto"/>
                <a:cs typeface="Roboto"/>
                <a:sym typeface="Roboto"/>
              </a:rPr>
              <a:t>MdAE</a:t>
            </a:r>
            <a:r>
              <a:rPr b="0" i="0" lang="en-US" sz="1500" u="none" cap="none" strike="noStrike">
                <a:solidFill>
                  <a:srgbClr val="1F2937"/>
                </a:solidFill>
                <a:latin typeface="Roboto"/>
                <a:ea typeface="Roboto"/>
                <a:cs typeface="Roboto"/>
                <a:sym typeface="Roboto"/>
              </a:rPr>
              <a:t> / RMSE is </a:t>
            </a:r>
            <a:r>
              <a:rPr b="1" i="0" lang="en-US" sz="1500" u="none" cap="none" strike="noStrike">
                <a:solidFill>
                  <a:srgbClr val="1F2937"/>
                </a:solidFill>
                <a:latin typeface="Roboto"/>
                <a:ea typeface="Roboto"/>
                <a:cs typeface="Roboto"/>
                <a:sym typeface="Roboto"/>
              </a:rPr>
              <a:t>0.50</a:t>
            </a:r>
            <a:r>
              <a:rPr b="0" i="0" lang="en-US" sz="1500" u="none" cap="none" strike="noStrike">
                <a:solidFill>
                  <a:srgbClr val="1F2937"/>
                </a:solidFill>
                <a:latin typeface="Roboto"/>
                <a:ea typeface="Roboto"/>
                <a:cs typeface="Roboto"/>
                <a:sym typeface="Roboto"/>
              </a:rPr>
              <a:t> [cite: 0.5033557046979866] for </a:t>
            </a:r>
            <a:r>
              <a:rPr b="0" i="1" lang="en-US" sz="1500" u="none" cap="none" strike="noStrike">
                <a:solidFill>
                  <a:srgbClr val="1F2937"/>
                </a:solidFill>
                <a:latin typeface="Roboto"/>
                <a:ea typeface="Roboto"/>
                <a:cs typeface="Roboto"/>
                <a:sym typeface="Roboto"/>
              </a:rPr>
              <a:t>LightGBM</a:t>
            </a:r>
            <a:r>
              <a:rPr b="0" i="0" lang="en-US" sz="1500" u="none" cap="none" strike="noStrike">
                <a:solidFill>
                  <a:srgbClr val="1F2937"/>
                </a:solidFill>
                <a:latin typeface="Roboto"/>
                <a:ea typeface="Roboto"/>
                <a:cs typeface="Roboto"/>
                <a:sym typeface="Roboto"/>
              </a:rPr>
              <a:t>, meaning the typical error (</a:t>
            </a:r>
            <a:r>
              <a:rPr b="0" i="1" lang="en-US" sz="1500" u="none" cap="none" strike="noStrike">
                <a:solidFill>
                  <a:srgbClr val="1F2937"/>
                </a:solidFill>
                <a:latin typeface="Roboto"/>
                <a:ea typeface="Roboto"/>
                <a:cs typeface="Roboto"/>
                <a:sym typeface="Roboto"/>
              </a:rPr>
              <a:t>₹1,500)</a:t>
            </a:r>
            <a:r>
              <a:rPr b="0" i="0" lang="en-US" sz="1500" u="none" cap="none" strike="noStrike">
                <a:solidFill>
                  <a:srgbClr val="1F2937"/>
                </a:solidFill>
                <a:latin typeface="Roboto"/>
                <a:ea typeface="Roboto"/>
                <a:cs typeface="Roboto"/>
                <a:sym typeface="Roboto"/>
              </a:rPr>
              <a:t> is half the total error (</a:t>
            </a:r>
            <a:r>
              <a:rPr b="0" i="1" lang="en-US" sz="1500" u="none" cap="none" strike="noStrike">
                <a:solidFill>
                  <a:srgbClr val="1F2937"/>
                </a:solidFill>
                <a:latin typeface="Roboto"/>
                <a:ea typeface="Roboto"/>
                <a:cs typeface="Roboto"/>
                <a:sym typeface="Roboto"/>
              </a:rPr>
              <a:t>₹2,980)</a:t>
            </a:r>
            <a:r>
              <a:rPr b="0" i="0" lang="en-US" sz="1500" u="none" cap="none" strike="noStrike">
                <a:solidFill>
                  <a:srgbClr val="1F2937"/>
                </a:solidFill>
                <a:latin typeface="Roboto"/>
                <a:ea typeface="Roboto"/>
                <a:cs typeface="Roboto"/>
                <a:sym typeface="Roboto"/>
              </a:rPr>
              <a:t>.</a:t>
            </a:r>
            <a:endParaRPr/>
          </a:p>
        </p:txBody>
      </p:sp>
      <p:sp>
        <p:nvSpPr>
          <p:cNvPr id="355" name="Google Shape;355;p24"/>
          <p:cNvSpPr txBox="1"/>
          <p:nvPr/>
        </p:nvSpPr>
        <p:spPr>
          <a:xfrm>
            <a:off x="8067375" y="4480850"/>
            <a:ext cx="3657600" cy="140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04D99"/>
                </a:solidFill>
                <a:latin typeface="Roboto"/>
                <a:ea typeface="Roboto"/>
                <a:cs typeface="Roboto"/>
                <a:sym typeface="Roboto"/>
              </a:rPr>
              <a:t>Conclusion:</a:t>
            </a:r>
            <a:r>
              <a:rPr b="0" i="0" lang="en-US" sz="1500" u="none" cap="none" strike="noStrike">
                <a:solidFill>
                  <a:srgbClr val="1F2937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b="0" i="1" lang="en-US" sz="1500" u="none" cap="none" strike="noStrike">
                <a:solidFill>
                  <a:srgbClr val="1F2937"/>
                </a:solidFill>
                <a:latin typeface="Roboto"/>
                <a:ea typeface="Roboto"/>
                <a:cs typeface="Roboto"/>
                <a:sym typeface="Roboto"/>
              </a:rPr>
              <a:t>LightGBM</a:t>
            </a:r>
            <a:r>
              <a:rPr b="0" i="0" lang="en-US" sz="1500" u="none" cap="none" strike="noStrike">
                <a:solidFill>
                  <a:srgbClr val="1F2937"/>
                </a:solidFill>
                <a:latin typeface="Roboto"/>
                <a:ea typeface="Roboto"/>
                <a:cs typeface="Roboto"/>
                <a:sym typeface="Roboto"/>
              </a:rPr>
              <a:t> is highly stable for routine forecasts, but its total error is inflated by the volatility of a few, large-scale administrative outliers.</a:t>
            </a:r>
            <a:endParaRPr/>
          </a:p>
        </p:txBody>
      </p:sp>
      <p:sp>
        <p:nvSpPr>
          <p:cNvPr id="356" name="Google Shape;356;p24"/>
          <p:cNvSpPr txBox="1"/>
          <p:nvPr/>
        </p:nvSpPr>
        <p:spPr>
          <a:xfrm>
            <a:off x="199725" y="156500"/>
            <a:ext cx="115254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004D99"/>
                </a:solidFill>
                <a:latin typeface="Montserrat"/>
                <a:ea typeface="Montserrat"/>
                <a:cs typeface="Montserrat"/>
                <a:sym typeface="Montserrat"/>
              </a:rPr>
              <a:t>Result Chart 3: Robustness (RMSE vs. MdAE)</a:t>
            </a:r>
            <a:endParaRPr/>
          </a:p>
        </p:txBody>
      </p:sp>
      <p:sp>
        <p:nvSpPr>
          <p:cNvPr id="357" name="Google Shape;357;p24"/>
          <p:cNvSpPr/>
          <p:nvPr/>
        </p:nvSpPr>
        <p:spPr>
          <a:xfrm>
            <a:off x="199725" y="804200"/>
            <a:ext cx="12382500" cy="285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358" name="Google Shape;358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781625" y="1909100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59" name="Google Shape;359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781625" y="2728250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60" name="Google Shape;360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781625" y="4518950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61" name="Google Shape;361;p2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74996" y="1328729"/>
            <a:ext cx="7200900" cy="420053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65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66" name="Google Shape;366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3500" y="1004350"/>
            <a:ext cx="6000750" cy="55149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67" name="Google Shape;367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475250" y="1004350"/>
            <a:ext cx="5588824" cy="5514975"/>
          </a:xfrm>
          <a:prstGeom prst="rect">
            <a:avLst/>
          </a:prstGeom>
          <a:noFill/>
          <a:ln>
            <a:noFill/>
          </a:ln>
        </p:spPr>
      </p:pic>
      <p:sp>
        <p:nvSpPr>
          <p:cNvPr id="368" name="Google Shape;368;p25"/>
          <p:cNvSpPr txBox="1"/>
          <p:nvPr/>
        </p:nvSpPr>
        <p:spPr>
          <a:xfrm>
            <a:off x="426875" y="1290100"/>
            <a:ext cx="5650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38BDF8"/>
                </a:solidFill>
                <a:latin typeface="Montserrat"/>
                <a:ea typeface="Montserrat"/>
                <a:cs typeface="Montserrat"/>
                <a:sym typeface="Montserrat"/>
              </a:rPr>
              <a:t>Skip-MLP: Faster Complex Training</a:t>
            </a:r>
            <a:endParaRPr/>
          </a:p>
        </p:txBody>
      </p:sp>
      <p:sp>
        <p:nvSpPr>
          <p:cNvPr id="369" name="Google Shape;369;p25"/>
          <p:cNvSpPr txBox="1"/>
          <p:nvPr/>
        </p:nvSpPr>
        <p:spPr>
          <a:xfrm>
            <a:off x="403025" y="1926325"/>
            <a:ext cx="53817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1F2937"/>
                </a:solidFill>
                <a:latin typeface="Roboto"/>
                <a:ea typeface="Roboto"/>
                <a:cs typeface="Roboto"/>
                <a:sym typeface="Roboto"/>
              </a:rPr>
              <a:t>The </a:t>
            </a:r>
            <a:r>
              <a:rPr b="1" i="0" lang="en-US" sz="1350" u="none" cap="none" strike="noStrike">
                <a:solidFill>
                  <a:srgbClr val="1F2937"/>
                </a:solidFill>
                <a:latin typeface="Roboto"/>
                <a:ea typeface="Roboto"/>
                <a:cs typeface="Roboto"/>
                <a:sym typeface="Roboto"/>
              </a:rPr>
              <a:t>Skip-MLP (ResNet-style)</a:t>
            </a:r>
            <a:r>
              <a:rPr b="0" i="0" lang="en-US" sz="1350" u="none" cap="none" strike="noStrike">
                <a:solidFill>
                  <a:srgbClr val="1F2937"/>
                </a:solidFill>
                <a:latin typeface="Roboto"/>
                <a:ea typeface="Roboto"/>
                <a:cs typeface="Roboto"/>
                <a:sym typeface="Roboto"/>
              </a:rPr>
              <a:t> model achieved the lowest training time for a complex </a:t>
            </a:r>
            <a:r>
              <a:rPr b="0" i="1" lang="en-US" sz="1350" u="none" cap="none" strike="noStrike">
                <a:solidFill>
                  <a:srgbClr val="1F2937"/>
                </a:solidFill>
                <a:latin typeface="Roboto"/>
                <a:ea typeface="Roboto"/>
                <a:cs typeface="Roboto"/>
                <a:sym typeface="Roboto"/>
              </a:rPr>
              <a:t>DL</a:t>
            </a:r>
            <a:r>
              <a:rPr b="0" i="0" lang="en-US" sz="1350" u="none" cap="none" strike="noStrike">
                <a:solidFill>
                  <a:srgbClr val="1F2937"/>
                </a:solidFill>
                <a:latin typeface="Roboto"/>
                <a:ea typeface="Roboto"/>
                <a:cs typeface="Roboto"/>
                <a:sym typeface="Roboto"/>
              </a:rPr>
              <a:t> architecture </a:t>
            </a:r>
            <a:r>
              <a:rPr b="0" i="1" lang="en-US" sz="1350" u="none" cap="none" strike="noStrike">
                <a:solidFill>
                  <a:srgbClr val="1F2937"/>
                </a:solidFill>
                <a:latin typeface="Roboto"/>
                <a:ea typeface="Roboto"/>
                <a:cs typeface="Roboto"/>
                <a:sym typeface="Roboto"/>
              </a:rPr>
              <a:t>(229</a:t>
            </a:r>
            <a:r>
              <a:rPr i="1" lang="en-US" sz="1350">
                <a:solidFill>
                  <a:srgbClr val="1F2937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b="0" i="1" lang="en-US" sz="1350" u="none" cap="none" strike="noStrike">
                <a:solidFill>
                  <a:srgbClr val="1F2937"/>
                </a:solidFill>
                <a:latin typeface="Roboto"/>
                <a:ea typeface="Roboto"/>
                <a:cs typeface="Roboto"/>
                <a:sym typeface="Roboto"/>
              </a:rPr>
              <a:t>seconds)</a:t>
            </a:r>
            <a:r>
              <a:rPr b="0" i="0" lang="en-US" sz="1350" u="none" cap="none" strike="noStrike">
                <a:solidFill>
                  <a:srgbClr val="1F2937"/>
                </a:solidFill>
                <a:latin typeface="Roboto"/>
                <a:ea typeface="Roboto"/>
                <a:cs typeface="Roboto"/>
                <a:sym typeface="Roboto"/>
              </a:rPr>
              <a:t> [cite: 229.00434613227844].</a:t>
            </a:r>
            <a:endParaRPr/>
          </a:p>
        </p:txBody>
      </p:sp>
      <p:sp>
        <p:nvSpPr>
          <p:cNvPr id="370" name="Google Shape;370;p25"/>
          <p:cNvSpPr txBox="1"/>
          <p:nvPr/>
        </p:nvSpPr>
        <p:spPr>
          <a:xfrm>
            <a:off x="403025" y="3128079"/>
            <a:ext cx="53817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1F2937"/>
                </a:solidFill>
                <a:latin typeface="Roboto"/>
                <a:ea typeface="Roboto"/>
                <a:cs typeface="Roboto"/>
                <a:sym typeface="Roboto"/>
              </a:rPr>
              <a:t>Justification:</a:t>
            </a:r>
            <a:r>
              <a:rPr b="0" i="0" lang="en-US" sz="1350" u="none" cap="none" strike="noStrike">
                <a:solidFill>
                  <a:srgbClr val="1F2937"/>
                </a:solidFill>
                <a:latin typeface="Roboto"/>
                <a:ea typeface="Roboto"/>
                <a:cs typeface="Roboto"/>
                <a:sym typeface="Roboto"/>
              </a:rPr>
              <a:t> The </a:t>
            </a:r>
            <a:r>
              <a:rPr b="1" i="0" lang="en-US" sz="1350" u="none" cap="none" strike="noStrike">
                <a:solidFill>
                  <a:srgbClr val="1F2937"/>
                </a:solidFill>
                <a:latin typeface="Roboto"/>
                <a:ea typeface="Roboto"/>
                <a:cs typeface="Roboto"/>
                <a:sym typeface="Roboto"/>
              </a:rPr>
              <a:t>residual skip connection</a:t>
            </a:r>
            <a:r>
              <a:rPr b="0" i="0" lang="en-US" sz="1350" u="none" cap="none" strike="noStrike">
                <a:solidFill>
                  <a:srgbClr val="1F2937"/>
                </a:solidFill>
                <a:latin typeface="Roboto"/>
                <a:ea typeface="Roboto"/>
                <a:cs typeface="Roboto"/>
                <a:sym typeface="Roboto"/>
              </a:rPr>
              <a:t> prevents gradient degradation, allowing for faster convergence compared to the much slower standard </a:t>
            </a:r>
            <a:r>
              <a:rPr b="0" i="1" lang="en-US" sz="1350" u="none" cap="none" strike="noStrike">
                <a:solidFill>
                  <a:srgbClr val="1F2937"/>
                </a:solidFill>
                <a:latin typeface="Roboto"/>
                <a:ea typeface="Roboto"/>
                <a:cs typeface="Roboto"/>
                <a:sym typeface="Roboto"/>
              </a:rPr>
              <a:t>MLP_wide</a:t>
            </a:r>
            <a:r>
              <a:rPr b="0" i="0" lang="en-US" sz="1350" u="none" cap="none" strike="noStrike">
                <a:solidFill>
                  <a:srgbClr val="1F2937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b="0" i="1" lang="en-US" sz="1350" u="none" cap="none" strike="noStrike">
                <a:solidFill>
                  <a:srgbClr val="1F2937"/>
                </a:solidFill>
                <a:latin typeface="Roboto"/>
                <a:ea typeface="Roboto"/>
                <a:cs typeface="Roboto"/>
                <a:sym typeface="Roboto"/>
              </a:rPr>
              <a:t>(3931</a:t>
            </a:r>
            <a:r>
              <a:rPr i="1" lang="en-US" sz="1350">
                <a:solidFill>
                  <a:srgbClr val="1F2937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b="0" i="1" lang="en-US" sz="1350" u="none" cap="none" strike="noStrike">
                <a:solidFill>
                  <a:srgbClr val="1F2937"/>
                </a:solidFill>
                <a:latin typeface="Roboto"/>
                <a:ea typeface="Roboto"/>
                <a:cs typeface="Roboto"/>
                <a:sym typeface="Roboto"/>
              </a:rPr>
              <a:t>seconds)</a:t>
            </a:r>
            <a:r>
              <a:rPr b="0" i="0" lang="en-US" sz="1350" u="none" cap="none" strike="noStrike">
                <a:solidFill>
                  <a:srgbClr val="1F2937"/>
                </a:solidFill>
                <a:latin typeface="Roboto"/>
                <a:ea typeface="Roboto"/>
                <a:cs typeface="Roboto"/>
                <a:sym typeface="Roboto"/>
              </a:rPr>
              <a:t> [cite: 3931.264481782913].</a:t>
            </a:r>
            <a:endParaRPr/>
          </a:p>
        </p:txBody>
      </p:sp>
      <p:sp>
        <p:nvSpPr>
          <p:cNvPr id="371" name="Google Shape;371;p25"/>
          <p:cNvSpPr txBox="1"/>
          <p:nvPr/>
        </p:nvSpPr>
        <p:spPr>
          <a:xfrm>
            <a:off x="6808625" y="1290100"/>
            <a:ext cx="51849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38BDF8"/>
                </a:solidFill>
                <a:latin typeface="Montserrat"/>
                <a:ea typeface="Montserrat"/>
                <a:cs typeface="Montserrat"/>
                <a:sym typeface="Montserrat"/>
              </a:rPr>
              <a:t>MLP_wide: Computational Concern</a:t>
            </a:r>
            <a:endParaRPr/>
          </a:p>
        </p:txBody>
      </p:sp>
      <p:sp>
        <p:nvSpPr>
          <p:cNvPr id="372" name="Google Shape;372;p25"/>
          <p:cNvSpPr txBox="1"/>
          <p:nvPr/>
        </p:nvSpPr>
        <p:spPr>
          <a:xfrm>
            <a:off x="6864563" y="1926325"/>
            <a:ext cx="4810200" cy="56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1F2937"/>
                </a:solidFill>
                <a:latin typeface="Roboto"/>
                <a:ea typeface="Roboto"/>
                <a:cs typeface="Roboto"/>
                <a:sym typeface="Roboto"/>
              </a:rPr>
              <a:t>The </a:t>
            </a:r>
            <a:r>
              <a:rPr b="0" i="1" lang="en-US" sz="1350" u="none" cap="none" strike="noStrike">
                <a:solidFill>
                  <a:srgbClr val="1F2937"/>
                </a:solidFill>
                <a:latin typeface="Roboto"/>
                <a:ea typeface="Roboto"/>
                <a:cs typeface="Roboto"/>
                <a:sym typeface="Roboto"/>
              </a:rPr>
              <a:t>MLP_wide</a:t>
            </a:r>
            <a:r>
              <a:rPr b="0" i="0" lang="en-US" sz="1350" u="none" cap="none" strike="noStrike">
                <a:solidFill>
                  <a:srgbClr val="1F2937"/>
                </a:solidFill>
                <a:latin typeface="Roboto"/>
                <a:ea typeface="Roboto"/>
                <a:cs typeface="Roboto"/>
                <a:sym typeface="Roboto"/>
              </a:rPr>
              <a:t> model took over </a:t>
            </a:r>
            <a:r>
              <a:rPr b="1" i="0" lang="en-US" sz="1350" u="none" cap="none" strike="noStrike">
                <a:solidFill>
                  <a:srgbClr val="1F2937"/>
                </a:solidFill>
                <a:latin typeface="Roboto"/>
                <a:ea typeface="Roboto"/>
                <a:cs typeface="Roboto"/>
                <a:sym typeface="Roboto"/>
              </a:rPr>
              <a:t>1 hour</a:t>
            </a:r>
            <a:r>
              <a:rPr b="0" i="0" lang="en-US" sz="1350" u="none" cap="none" strike="noStrike">
                <a:solidFill>
                  <a:srgbClr val="1F2937"/>
                </a:solidFill>
                <a:latin typeface="Roboto"/>
                <a:ea typeface="Roboto"/>
                <a:cs typeface="Roboto"/>
                <a:sym typeface="Roboto"/>
              </a:rPr>
              <a:t> (3931 seconds) to train, even with GPU acceleration.</a:t>
            </a:r>
            <a:endParaRPr/>
          </a:p>
        </p:txBody>
      </p:sp>
      <p:sp>
        <p:nvSpPr>
          <p:cNvPr id="373" name="Google Shape;373;p25"/>
          <p:cNvSpPr txBox="1"/>
          <p:nvPr/>
        </p:nvSpPr>
        <p:spPr>
          <a:xfrm>
            <a:off x="6864563" y="3066348"/>
            <a:ext cx="4810200" cy="126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1F2937"/>
                </a:solidFill>
                <a:latin typeface="Roboto"/>
                <a:ea typeface="Roboto"/>
                <a:cs typeface="Roboto"/>
                <a:sym typeface="Roboto"/>
              </a:rPr>
              <a:t>Concern:</a:t>
            </a:r>
            <a:r>
              <a:rPr b="0" i="0" lang="en-US" sz="1350" u="none" cap="none" strike="noStrike">
                <a:solidFill>
                  <a:srgbClr val="1F2937"/>
                </a:solidFill>
                <a:latin typeface="Roboto"/>
                <a:ea typeface="Roboto"/>
                <a:cs typeface="Roboto"/>
                <a:sym typeface="Roboto"/>
              </a:rPr>
              <a:t> This demonstrates that simply making a network wide or deep without architectural improvements (like skip connections) results in prohibitive computational cost for production systems.</a:t>
            </a:r>
            <a:endParaRPr/>
          </a:p>
        </p:txBody>
      </p:sp>
      <p:sp>
        <p:nvSpPr>
          <p:cNvPr id="374" name="Google Shape;374;p25"/>
          <p:cNvSpPr txBox="1"/>
          <p:nvPr/>
        </p:nvSpPr>
        <p:spPr>
          <a:xfrm>
            <a:off x="93500" y="137575"/>
            <a:ext cx="115254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004D99"/>
                </a:solidFill>
                <a:latin typeface="Montserrat"/>
                <a:ea typeface="Montserrat"/>
                <a:cs typeface="Montserrat"/>
                <a:sym typeface="Montserrat"/>
              </a:rPr>
              <a:t>Technical Insight: Deep Learning Efficiency</a:t>
            </a:r>
            <a:endParaRPr/>
          </a:p>
        </p:txBody>
      </p:sp>
      <p:sp>
        <p:nvSpPr>
          <p:cNvPr id="375" name="Google Shape;375;p25"/>
          <p:cNvSpPr/>
          <p:nvPr/>
        </p:nvSpPr>
        <p:spPr>
          <a:xfrm>
            <a:off x="93500" y="785275"/>
            <a:ext cx="12382500" cy="285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38BDF8"/>
        </a:solidFill>
      </p:bgPr>
    </p:bg>
    <p:spTree>
      <p:nvGrpSpPr>
        <p:cNvPr id="379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p26"/>
          <p:cNvSpPr txBox="1"/>
          <p:nvPr/>
        </p:nvSpPr>
        <p:spPr>
          <a:xfrm>
            <a:off x="687374" y="2835113"/>
            <a:ext cx="11646300" cy="69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500" u="none" cap="none" strike="noStrike">
                <a:solidFill>
                  <a:srgbClr val="004D99"/>
                </a:solidFill>
                <a:latin typeface="Montserrat"/>
                <a:ea typeface="Montserrat"/>
                <a:cs typeface="Montserrat"/>
                <a:sym typeface="Montserrat"/>
              </a:rPr>
              <a:t>Final Deployment Recommendation</a:t>
            </a:r>
            <a:endParaRPr/>
          </a:p>
        </p:txBody>
      </p:sp>
      <p:sp>
        <p:nvSpPr>
          <p:cNvPr id="381" name="Google Shape;381;p26"/>
          <p:cNvSpPr txBox="1"/>
          <p:nvPr/>
        </p:nvSpPr>
        <p:spPr>
          <a:xfrm>
            <a:off x="687372" y="3823288"/>
            <a:ext cx="86430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004D99"/>
                </a:solidFill>
                <a:latin typeface="Roboto"/>
                <a:ea typeface="Roboto"/>
                <a:cs typeface="Roboto"/>
                <a:sym typeface="Roboto"/>
              </a:rPr>
              <a:t>Selecting the Model for Operational Stability and Accuracy.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85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Google Shape;386;p27"/>
          <p:cNvSpPr txBox="1"/>
          <p:nvPr/>
        </p:nvSpPr>
        <p:spPr>
          <a:xfrm>
            <a:off x="426680" y="1498050"/>
            <a:ext cx="63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7" name="Google Shape;387;p27"/>
          <p:cNvSpPr txBox="1"/>
          <p:nvPr/>
        </p:nvSpPr>
        <p:spPr>
          <a:xfrm>
            <a:off x="272475" y="433712"/>
            <a:ext cx="115254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004D99"/>
                </a:solidFill>
                <a:latin typeface="Montserrat"/>
                <a:ea typeface="Montserrat"/>
                <a:cs typeface="Montserrat"/>
                <a:sym typeface="Montserrat"/>
              </a:rPr>
              <a:t>Actionable Insights &amp; Next Steps</a:t>
            </a:r>
            <a:endParaRPr/>
          </a:p>
        </p:txBody>
      </p:sp>
      <p:sp>
        <p:nvSpPr>
          <p:cNvPr id="388" name="Google Shape;388;p27"/>
          <p:cNvSpPr/>
          <p:nvPr/>
        </p:nvSpPr>
        <p:spPr>
          <a:xfrm>
            <a:off x="272475" y="1081412"/>
            <a:ext cx="12382500" cy="285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9" name="Google Shape;389;p27"/>
          <p:cNvSpPr txBox="1"/>
          <p:nvPr/>
        </p:nvSpPr>
        <p:spPr>
          <a:xfrm>
            <a:off x="582947" y="1510838"/>
            <a:ext cx="10555200" cy="6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004D99"/>
                </a:solidFill>
                <a:latin typeface="Roboto"/>
                <a:ea typeface="Roboto"/>
                <a:cs typeface="Roboto"/>
                <a:sym typeface="Roboto"/>
              </a:rPr>
              <a:t>Model Deployment:</a:t>
            </a:r>
            <a:r>
              <a:rPr b="0" i="0" lang="en-US" sz="1500" u="none" cap="none" strike="noStrike">
                <a:solidFill>
                  <a:srgbClr val="1F2937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b="1" i="1" lang="en-US" sz="1500">
                <a:solidFill>
                  <a:srgbClr val="1F2937"/>
                </a:solidFill>
                <a:latin typeface="Roboto"/>
                <a:ea typeface="Roboto"/>
                <a:cs typeface="Roboto"/>
                <a:sym typeface="Roboto"/>
              </a:rPr>
              <a:t>LightGBM</a:t>
            </a:r>
            <a:r>
              <a:rPr i="1" lang="en-US" sz="1500">
                <a:solidFill>
                  <a:srgbClr val="1F2937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500">
                <a:solidFill>
                  <a:srgbClr val="1F2937"/>
                </a:solidFill>
                <a:latin typeface="Roboto"/>
                <a:ea typeface="Roboto"/>
                <a:cs typeface="Roboto"/>
                <a:sym typeface="Roboto"/>
              </a:rPr>
              <a:t>is the ideal candidate. It offers </a:t>
            </a:r>
            <a:r>
              <a:rPr i="1" lang="en-US" sz="1500">
                <a:solidFill>
                  <a:srgbClr val="1F2937"/>
                </a:solidFill>
                <a:latin typeface="Roboto"/>
                <a:ea typeface="Roboto"/>
                <a:cs typeface="Roboto"/>
                <a:sym typeface="Roboto"/>
              </a:rPr>
              <a:t>0.9995 R^2</a:t>
            </a:r>
            <a:r>
              <a:rPr lang="en-US" sz="1500">
                <a:solidFill>
                  <a:srgbClr val="1F2937"/>
                </a:solidFill>
                <a:latin typeface="Roboto"/>
                <a:ea typeface="Roboto"/>
                <a:cs typeface="Roboto"/>
                <a:sym typeface="Roboto"/>
              </a:rPr>
              <a:t> and fast training, making it reliable for daily or weekly fund allocation forecasts.</a:t>
            </a:r>
            <a:endParaRPr i="1" sz="1500">
              <a:solidFill>
                <a:srgbClr val="1F2937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descr="image.png" id="390" name="Google Shape;390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09266" y="1510838"/>
            <a:ext cx="180636" cy="200026"/>
          </a:xfrm>
          <a:prstGeom prst="rect">
            <a:avLst/>
          </a:prstGeom>
          <a:noFill/>
          <a:ln>
            <a:noFill/>
          </a:ln>
        </p:spPr>
      </p:pic>
      <p:sp>
        <p:nvSpPr>
          <p:cNvPr id="391" name="Google Shape;391;p27"/>
          <p:cNvSpPr txBox="1"/>
          <p:nvPr/>
        </p:nvSpPr>
        <p:spPr>
          <a:xfrm>
            <a:off x="389889" y="2292079"/>
            <a:ext cx="63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2" name="Google Shape;392;p27"/>
          <p:cNvSpPr txBox="1"/>
          <p:nvPr/>
        </p:nvSpPr>
        <p:spPr>
          <a:xfrm>
            <a:off x="546156" y="2304867"/>
            <a:ext cx="10555200" cy="6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004D99"/>
                </a:solidFill>
                <a:latin typeface="Roboto"/>
                <a:ea typeface="Roboto"/>
                <a:cs typeface="Roboto"/>
                <a:sym typeface="Roboto"/>
              </a:rPr>
              <a:t>Feature Importance:</a:t>
            </a:r>
            <a:r>
              <a:rPr b="0" i="0" lang="en-US" sz="1500" u="none" cap="none" strike="noStrike">
                <a:solidFill>
                  <a:srgbClr val="1F2937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500">
                <a:solidFill>
                  <a:srgbClr val="1F2937"/>
                </a:solidFill>
                <a:latin typeface="Roboto"/>
                <a:ea typeface="Roboto"/>
                <a:cs typeface="Roboto"/>
                <a:sym typeface="Roboto"/>
              </a:rPr>
              <a:t>Use </a:t>
            </a:r>
            <a:r>
              <a:rPr i="1" lang="en-US" sz="1500">
                <a:solidFill>
                  <a:srgbClr val="1F2937"/>
                </a:solidFill>
                <a:latin typeface="Roboto"/>
                <a:ea typeface="Roboto"/>
                <a:cs typeface="Roboto"/>
                <a:sym typeface="Roboto"/>
              </a:rPr>
              <a:t>LightGBM</a:t>
            </a:r>
            <a:r>
              <a:rPr lang="en-US" sz="1500">
                <a:solidFill>
                  <a:srgbClr val="1F2937"/>
                </a:solidFill>
                <a:latin typeface="Roboto"/>
                <a:ea typeface="Roboto"/>
                <a:cs typeface="Roboto"/>
                <a:sym typeface="Roboto"/>
              </a:rPr>
              <a:t>'s feature importance output to identify the administrative and demographic drivers (e.g., specific district codes, budget types) most critical to employment demand.</a:t>
            </a:r>
            <a:endParaRPr b="1" i="1" sz="1500">
              <a:solidFill>
                <a:srgbClr val="1F2937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descr="image.png" id="393" name="Google Shape;393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72475" y="2304867"/>
            <a:ext cx="180636" cy="200026"/>
          </a:xfrm>
          <a:prstGeom prst="rect">
            <a:avLst/>
          </a:prstGeom>
          <a:noFill/>
          <a:ln>
            <a:noFill/>
          </a:ln>
        </p:spPr>
      </p:pic>
      <p:sp>
        <p:nvSpPr>
          <p:cNvPr id="394" name="Google Shape;394;p27"/>
          <p:cNvSpPr txBox="1"/>
          <p:nvPr/>
        </p:nvSpPr>
        <p:spPr>
          <a:xfrm>
            <a:off x="389889" y="3098907"/>
            <a:ext cx="63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5" name="Google Shape;395;p27"/>
          <p:cNvSpPr txBox="1"/>
          <p:nvPr/>
        </p:nvSpPr>
        <p:spPr>
          <a:xfrm>
            <a:off x="546156" y="3111696"/>
            <a:ext cx="10555200" cy="6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004D99"/>
                </a:solidFill>
                <a:latin typeface="Roboto"/>
                <a:ea typeface="Roboto"/>
                <a:cs typeface="Roboto"/>
                <a:sym typeface="Roboto"/>
              </a:rPr>
              <a:t>Targeted Intervention: </a:t>
            </a:r>
            <a:r>
              <a:rPr lang="en-US" sz="1500">
                <a:solidFill>
                  <a:srgbClr val="1F2937"/>
                </a:solidFill>
                <a:latin typeface="Roboto"/>
                <a:ea typeface="Roboto"/>
                <a:cs typeface="Roboto"/>
                <a:sym typeface="Roboto"/>
              </a:rPr>
              <a:t>Integrate the</a:t>
            </a:r>
            <a:r>
              <a:rPr i="1" lang="en-US" sz="1500">
                <a:solidFill>
                  <a:srgbClr val="1F2937"/>
                </a:solidFill>
                <a:latin typeface="Roboto"/>
                <a:ea typeface="Roboto"/>
                <a:cs typeface="Roboto"/>
                <a:sym typeface="Roboto"/>
              </a:rPr>
              <a:t> EDA</a:t>
            </a:r>
            <a:r>
              <a:rPr lang="en-US" sz="1500">
                <a:solidFill>
                  <a:srgbClr val="1F2937"/>
                </a:solidFill>
                <a:latin typeface="Roboto"/>
                <a:ea typeface="Roboto"/>
                <a:cs typeface="Roboto"/>
                <a:sym typeface="Roboto"/>
              </a:rPr>
              <a:t> finding on low 100-Day achievement with model outputs to flag districts at risk of failing the employment guarantee.</a:t>
            </a:r>
            <a:endParaRPr sz="1500">
              <a:solidFill>
                <a:srgbClr val="1F2937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descr="image.png" id="396" name="Google Shape;396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72475" y="3111696"/>
            <a:ext cx="180636" cy="200026"/>
          </a:xfrm>
          <a:prstGeom prst="rect">
            <a:avLst/>
          </a:prstGeom>
          <a:noFill/>
          <a:ln>
            <a:noFill/>
          </a:ln>
        </p:spPr>
      </p:pic>
      <p:sp>
        <p:nvSpPr>
          <p:cNvPr id="397" name="Google Shape;397;p27"/>
          <p:cNvSpPr txBox="1"/>
          <p:nvPr/>
        </p:nvSpPr>
        <p:spPr>
          <a:xfrm>
            <a:off x="389889" y="3942836"/>
            <a:ext cx="63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8" name="Google Shape;398;p27"/>
          <p:cNvSpPr txBox="1"/>
          <p:nvPr/>
        </p:nvSpPr>
        <p:spPr>
          <a:xfrm>
            <a:off x="546156" y="3955625"/>
            <a:ext cx="10555200" cy="6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004D99"/>
                </a:solidFill>
                <a:latin typeface="Roboto"/>
                <a:ea typeface="Roboto"/>
                <a:cs typeface="Roboto"/>
                <a:sym typeface="Roboto"/>
              </a:rPr>
              <a:t>Data Concern: </a:t>
            </a:r>
            <a:r>
              <a:rPr lang="en-US" sz="1500">
                <a:solidFill>
                  <a:srgbClr val="1F2937"/>
                </a:solidFill>
                <a:latin typeface="Roboto"/>
                <a:ea typeface="Roboto"/>
                <a:cs typeface="Roboto"/>
                <a:sym typeface="Roboto"/>
              </a:rPr>
              <a:t>Address the </a:t>
            </a:r>
            <a:r>
              <a:rPr i="1" lang="en-US" sz="1500">
                <a:solidFill>
                  <a:srgbClr val="1F2937"/>
                </a:solidFill>
                <a:latin typeface="Roboto"/>
                <a:ea typeface="Roboto"/>
                <a:cs typeface="Roboto"/>
                <a:sym typeface="Roboto"/>
              </a:rPr>
              <a:t>DL</a:t>
            </a:r>
            <a:r>
              <a:rPr lang="en-US" sz="1500">
                <a:solidFill>
                  <a:srgbClr val="1F2937"/>
                </a:solidFill>
                <a:latin typeface="Roboto"/>
                <a:ea typeface="Roboto"/>
                <a:cs typeface="Roboto"/>
                <a:sym typeface="Roboto"/>
              </a:rPr>
              <a:t> instability by investigating target variable transformation (e.g., using </a:t>
            </a:r>
            <a:r>
              <a:rPr i="1" lang="en-US" sz="1500">
                <a:solidFill>
                  <a:srgbClr val="1F2937"/>
                </a:solidFill>
                <a:latin typeface="Roboto"/>
                <a:ea typeface="Roboto"/>
                <a:cs typeface="Roboto"/>
                <a:sym typeface="Roboto"/>
              </a:rPr>
              <a:t>log1p</a:t>
            </a:r>
            <a:r>
              <a:rPr lang="en-US" sz="1500">
                <a:solidFill>
                  <a:srgbClr val="1F2937"/>
                </a:solidFill>
                <a:latin typeface="Roboto"/>
                <a:ea typeface="Roboto"/>
                <a:cs typeface="Roboto"/>
                <a:sym typeface="Roboto"/>
              </a:rPr>
              <a:t> specifically for the </a:t>
            </a:r>
            <a:r>
              <a:rPr i="1" lang="en-US" sz="1500">
                <a:solidFill>
                  <a:srgbClr val="1F2937"/>
                </a:solidFill>
                <a:latin typeface="Roboto"/>
                <a:ea typeface="Roboto"/>
                <a:cs typeface="Roboto"/>
                <a:sym typeface="Roboto"/>
              </a:rPr>
              <a:t>DL </a:t>
            </a:r>
            <a:r>
              <a:rPr lang="en-US" sz="1500">
                <a:solidFill>
                  <a:srgbClr val="1F2937"/>
                </a:solidFill>
                <a:latin typeface="Roboto"/>
                <a:ea typeface="Roboto"/>
                <a:cs typeface="Roboto"/>
                <a:sym typeface="Roboto"/>
              </a:rPr>
              <a:t>pipeline to improve R^2.</a:t>
            </a:r>
            <a:endParaRPr sz="1500">
              <a:solidFill>
                <a:srgbClr val="1F2937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descr="image.png" id="399" name="Google Shape;399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72475" y="3955625"/>
            <a:ext cx="180636" cy="2000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4D99"/>
        </a:solidFill>
      </p:bgPr>
    </p:bg>
    <p:spTree>
      <p:nvGrpSpPr>
        <p:cNvPr id="403" name="Shape 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Google Shape;404;p28"/>
          <p:cNvSpPr txBox="1"/>
          <p:nvPr/>
        </p:nvSpPr>
        <p:spPr>
          <a:xfrm>
            <a:off x="6015037" y="3348037"/>
            <a:ext cx="1770221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04D99"/>
                </a:solidFill>
                <a:latin typeface="Montserrat"/>
                <a:ea typeface="Montserrat"/>
                <a:cs typeface="Montserrat"/>
                <a:sym typeface="Montserrat"/>
              </a:rPr>
              <a:t>Thank You</a:t>
            </a:r>
            <a:endParaRPr/>
          </a:p>
        </p:txBody>
      </p:sp>
      <p:sp>
        <p:nvSpPr>
          <p:cNvPr id="405" name="Google Shape;405;p28"/>
          <p:cNvSpPr txBox="1"/>
          <p:nvPr/>
        </p:nvSpPr>
        <p:spPr>
          <a:xfrm>
            <a:off x="5106450" y="3175050"/>
            <a:ext cx="19791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3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Thank you</a:t>
            </a:r>
            <a:endParaRPr b="1" sz="32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